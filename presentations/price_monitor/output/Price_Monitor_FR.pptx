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c9f1a769b0a4c27" /><Relationship Type="http://schemas.openxmlformats.org/officeDocument/2006/relationships/extended-properties" Target="/docProps/app.xml" Id="R67cab515feb6497e" /><Relationship Type="http://schemas.openxmlformats.org/officeDocument/2006/relationships/officeDocument" Target="/ppt/presentation.xml" Id="Rdce32e3ed8254135" /></Relationships>
</file>

<file path=ppt/presentation.xml><?xml version="1.0" encoding="utf-8"?>
<p:presentation xmlns:p="http://schemas.openxmlformats.org/presentationml/2006/main">
  <p:sldMasterIdLst>
    <p:sldMasterId xmlns:r="http://schemas.openxmlformats.org/officeDocument/2006/relationships" id="2147483648" r:id="R57dab84398974f74"/>
  </p:sldMasterIdLst>
  <p:notesMasterIdLst>
    <p:notesMasterId xmlns:r="http://schemas.openxmlformats.org/officeDocument/2006/relationships" r:id="Ra5c035d0be3f4abf"/>
  </p:notesMasterIdLst>
  <p:sldIdLst>
    <p:sldId xmlns:r="http://schemas.openxmlformats.org/officeDocument/2006/relationships" id="256" r:id="R2ffc79e6aeb341f9"/>
    <p:sldId xmlns:r="http://schemas.openxmlformats.org/officeDocument/2006/relationships" id="257" r:id="R7bbeaebeb63449a4"/>
    <p:sldId xmlns:r="http://schemas.openxmlformats.org/officeDocument/2006/relationships" id="258" r:id="Ra12f88bf3c9c4f45"/>
    <p:sldId xmlns:r="http://schemas.openxmlformats.org/officeDocument/2006/relationships" id="259" r:id="R6a5fc3d7f8b64050"/>
    <p:sldId xmlns:r="http://schemas.openxmlformats.org/officeDocument/2006/relationships" id="260" r:id="Rf670814e6c134964"/>
    <p:sldId xmlns:r="http://schemas.openxmlformats.org/officeDocument/2006/relationships" id="261" r:id="R8ced48fcae1a4c78"/>
    <p:sldId xmlns:r="http://schemas.openxmlformats.org/officeDocument/2006/relationships" id="262" r:id="R389dd7e82ac9432a"/>
    <p:sldId xmlns:r="http://schemas.openxmlformats.org/officeDocument/2006/relationships" id="263" r:id="R82dd3148ce054e5e"/>
    <p:sldId xmlns:r="http://schemas.openxmlformats.org/officeDocument/2006/relationships" id="264" r:id="Re2243a3ea7ee4dd0"/>
    <p:sldId xmlns:r="http://schemas.openxmlformats.org/officeDocument/2006/relationships" id="265" r:id="R9e7d5d66b6a745bd"/>
    <p:sldId xmlns:r="http://schemas.openxmlformats.org/officeDocument/2006/relationships" id="266" r:id="R4be193d695c64118"/>
    <p:sldId xmlns:r="http://schemas.openxmlformats.org/officeDocument/2006/relationships" id="267" r:id="Rd82058de57404f7d"/>
    <p:sldId xmlns:r="http://schemas.openxmlformats.org/officeDocument/2006/relationships" id="268" r:id="R9ccccf489b194045"/>
    <p:sldId xmlns:r="http://schemas.openxmlformats.org/officeDocument/2006/relationships" id="269" r:id="R37fb674b0412419f"/>
    <p:sldId xmlns:r="http://schemas.openxmlformats.org/officeDocument/2006/relationships" id="270" r:id="R5a2425c4f13046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0d9207c5bd40b0" /><Relationship Type="http://schemas.openxmlformats.org/officeDocument/2006/relationships/slideMaster" Target="/ppt/slideMasters/slideMaster1.xml" Id="R57dab84398974f74" /><Relationship Type="http://schemas.openxmlformats.org/officeDocument/2006/relationships/notesMaster" Target="/ppt/notesMasters/notesMaster1.xml" Id="Ra5c035d0be3f4abf" /><Relationship Type="http://schemas.openxmlformats.org/officeDocument/2006/relationships/presProps" Target="/ppt/presProps.xml" Id="R257f75ea11a04769" /><Relationship Type="http://schemas.openxmlformats.org/officeDocument/2006/relationships/tableStyles" Target="/ppt/tableStyles.xml" Id="Rdea5f48f69334168" /><Relationship Type="http://schemas.openxmlformats.org/officeDocument/2006/relationships/slide" Target="/ppt/slides/slide1.xml" Id="R2ffc79e6aeb341f9" /><Relationship Type="http://schemas.openxmlformats.org/officeDocument/2006/relationships/slide" Target="/ppt/slides/slide2.xml" Id="R7bbeaebeb63449a4" /><Relationship Type="http://schemas.openxmlformats.org/officeDocument/2006/relationships/slide" Target="/ppt/slides/slide3.xml" Id="Ra12f88bf3c9c4f45" /><Relationship Type="http://schemas.openxmlformats.org/officeDocument/2006/relationships/slide" Target="/ppt/slides/slide4.xml" Id="R6a5fc3d7f8b64050" /><Relationship Type="http://schemas.openxmlformats.org/officeDocument/2006/relationships/slide" Target="/ppt/slides/slide5.xml" Id="Rf670814e6c134964" /><Relationship Type="http://schemas.openxmlformats.org/officeDocument/2006/relationships/slide" Target="/ppt/slides/slide6.xml" Id="R8ced48fcae1a4c78" /><Relationship Type="http://schemas.openxmlformats.org/officeDocument/2006/relationships/slide" Target="/ppt/slides/slide7.xml" Id="R389dd7e82ac9432a" /><Relationship Type="http://schemas.openxmlformats.org/officeDocument/2006/relationships/slide" Target="/ppt/slides/slide8.xml" Id="R82dd3148ce054e5e" /><Relationship Type="http://schemas.openxmlformats.org/officeDocument/2006/relationships/slide" Target="/ppt/slides/slide9.xml" Id="Re2243a3ea7ee4dd0" /><Relationship Type="http://schemas.openxmlformats.org/officeDocument/2006/relationships/slide" Target="/ppt/slides/slide10.xml" Id="R9e7d5d66b6a745bd" /><Relationship Type="http://schemas.openxmlformats.org/officeDocument/2006/relationships/slide" Target="/ppt/slides/slide11.xml" Id="R4be193d695c64118" /><Relationship Type="http://schemas.openxmlformats.org/officeDocument/2006/relationships/slide" Target="/ppt/slides/slide12.xml" Id="Rd82058de57404f7d" /><Relationship Type="http://schemas.openxmlformats.org/officeDocument/2006/relationships/slide" Target="/ppt/slides/slide13.xml" Id="R9ccccf489b194045" /><Relationship Type="http://schemas.openxmlformats.org/officeDocument/2006/relationships/slide" Target="/ppt/slides/slide14.xml" Id="R37fb674b0412419f" /><Relationship Type="http://schemas.openxmlformats.org/officeDocument/2006/relationships/slide" Target="/ppt/slides/slide15.xml" Id="R5a2425c4f13046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de480a362743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34b7bfcb2145eb" /><Relationship Type="http://schemas.openxmlformats.org/officeDocument/2006/relationships/notesMaster" Target="/ppt/notesMasters/notesMaster1.xml" Id="R1ef6533f034e41a3" /></Relationships>
</file>

<file path=ppt/notesSlides/_rels/notesSlide2.xml.rels>&#65279;<?xml version="1.0" encoding="utf-8"?><Relationships xmlns="http://schemas.openxmlformats.org/package/2006/relationships"><Relationship Type="http://schemas.openxmlformats.org/officeDocument/2006/relationships/slide" Target="/ppt/slides/slide2.xml" Id="R4f126e8eb99941bc" /><Relationship Type="http://schemas.openxmlformats.org/officeDocument/2006/relationships/notesMaster" Target="/ppt/notesMasters/notesMaster1.xml" Id="Rd38c2d76f6c447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5d2cd0fda84056" /><Relationship Type="http://schemas.openxmlformats.org/officeDocument/2006/relationships/notesMaster" Target="/ppt/notesMasters/notesMaster1.xml" Id="R71e588ab75d44c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cd5937a29f44a2" /><Relationship Type="http://schemas.openxmlformats.org/officeDocument/2006/relationships/notesMaster" Target="/ppt/notesMasters/notesMaster1.xml" Id="Ra7552247a1b34c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73f7ec71f24d65" /><Relationship Type="http://schemas.openxmlformats.org/officeDocument/2006/relationships/notesMaster" Target="/ppt/notesMasters/notesMaster1.xml" Id="R013e27c4edeb4c3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4865e9375ca488e" /><Relationship Type="http://schemas.openxmlformats.org/officeDocument/2006/relationships/notesMaster" Target="/ppt/notesMasters/notesMaster1.xml" Id="R2f7d78e16fbb4b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2b00a54194b34dc8" /><Relationship Type="http://schemas.openxmlformats.org/officeDocument/2006/relationships/notesMaster" Target="/ppt/notesMasters/notesMaster1.xml" Id="R0b178e8601d046df"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5b7791fe944e8d" /><Relationship Type="http://schemas.openxmlformats.org/officeDocument/2006/relationships/notesMaster" Target="/ppt/notesMasters/notesMaster1.xml" Id="Ra58b3ad63f2546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d81eb203634307" /><Relationship Type="http://schemas.openxmlformats.org/officeDocument/2006/relationships/notesMaster" Target="/ppt/notesMasters/notesMaster1.xml" Id="R475e1f189a834f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e3150218e34b3f" /><Relationship Type="http://schemas.openxmlformats.org/officeDocument/2006/relationships/notesMaster" Target="/ppt/notesMasters/notesMaster1.xml" Id="R2eb2285aaa964c1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5c85d199de54e90" /><Relationship Type="http://schemas.openxmlformats.org/officeDocument/2006/relationships/notesMaster" Target="/ppt/notesMasters/notesMaster1.xml" Id="Rc15f9abece5647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36cbf4b6eb5410a" /><Relationship Type="http://schemas.openxmlformats.org/officeDocument/2006/relationships/notesMaster" Target="/ppt/notesMasters/notesMaster1.xml" Id="R753a702009324c7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d52afd665574e13" /><Relationship Type="http://schemas.openxmlformats.org/officeDocument/2006/relationships/notesMaster" Target="/ppt/notesMasters/notesMaster1.xml" Id="R4ea5401807e94b7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dcc6f4ad38c439b" /><Relationship Type="http://schemas.openxmlformats.org/officeDocument/2006/relationships/notesMaster" Target="/ppt/notesMasters/notesMaster1.xml" Id="R34e94af207e743f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540a034682f4f82" /><Relationship Type="http://schemas.openxmlformats.org/officeDocument/2006/relationships/notesMaster" Target="/ppt/notesMasters/notesMaster1.xml" Id="R98ddcb0af7e442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Bonjour. Je vais vous présenter Price Monitor, une application qui centralise des données sur le Brent, le gasoil et le bitume. Elle permet de consulter les évolutions du marché, de recevoir des alertes et de préparer des estimations d’achat. Le projet comprend aussi un travail d’analyse des données pour évaluer les prévisions. Son intérêt principal est de rendre les informations plus faciles à lire et à vérifier.</a:t>
            </a:r>
          </a:p>
          <a:p xmlns:a="http://schemas.openxmlformats.org/drawingml/2006/main">
            <a:r>
              <a:t/>
            </a:r>
          </a:p>
          <a:p xmlns:a="http://schemas.openxmlformats.org/drawingml/2006/main">
            <a:r>
              <a:t>Sources du projet : README.md. Illustration de couverture générée avec l’outil intégré Image Generation. Prompt : site pétrolier au crépuscule, palette bleu nuit et cuivre, composition industrielle à droite, sans texte ni logo. Illustration conceptuelle.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 acheteur ou un responsable de budget doit suivre des prix qui peuvent évoluer et qui viennent de plusieurs sources. Comparer deux chiffres sans regarder leur date, leur unité et leur nature peut conduire à une mauvaise conclusion. Le projet répond à ce problème en conservant ces informations et en proposant une vue commune. Le public visé comprend les équipes achats et les analystes qui suivent ces matières premières. L’application aide à préparer une décision, puis l’achat réel exige un devis fournisseur et les conditions de livraison.</a:t>
            </a:r>
          </a:p>
          <a:p xmlns:a="http://schemas.openxmlformats.org/drawingml/2006/main">
            <a:r>
              <a:t/>
            </a:r>
          </a:p>
          <a:p xmlns:a="http://schemas.openxmlformats.org/drawingml/2006/main">
            <a:r>
              <a:t>Sources du projet :</a:t>
            </a:r>
          </a:p>
          <a:p xmlns:a="http://schemas.openxmlformats.org/drawingml/2006/main">
            <a:r>
              <a:t>README.md, sections Navigation et Où acheter et comment acheter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Brent représente un benchmark du pétrole brut. Le gasoil historique correspond à la série diesel spot de New York Harbor. Les cartes de marché utilisent aussi des contrats à terme Yahoo : BZ=F pour le Brent et HO=F comme proxy heating oil du gasoil. Il faut garder cette différence visible. Le bitume a deux représentations séparées : un indice mensuel américain WPU058 et des devis fournisseur en dollars par tonne. L’indice décrit une évolution relative. Il ne se convertit pas en prix achetable. Les budgets bitume utilisent les devis, jamais l’indice.</a:t>
            </a:r>
          </a:p>
          <a:p xmlns:a="http://schemas.openxmlformats.org/drawingml/2006/main">
            <a:r>
              <a:t/>
            </a:r>
          </a:p>
          <a:p xmlns:a="http://schemas.openxmlformats.org/drawingml/2006/main">
            <a:r>
              <a:t>Sources du projet :</a:t>
            </a:r>
          </a:p>
          <a:p xmlns:a="http://schemas.openxmlformats.org/drawingml/2006/main">
            <a:r>
              <a:t>price_monitor/services/collectors.py</a:t>
            </a:r>
          </a:p>
          <a:p xmlns:a="http://schemas.openxmlformats.org/drawingml/2006/main">
            <a:r>
              <a:t>price_monitor/bitumen.py</a:t>
            </a:r>
          </a:p>
          <a:p xmlns:a="http://schemas.openxmlformats.org/drawingml/2006/main">
            <a:r>
              <a:t>README.md, distinction des types de données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Price Monitor réunit huit sections dans un tableau de bord : Marchés, Tendances, Veille, Archives, Nouveau prix, Fournisseurs, Budget et Activité. L’historique livré couvre environ cinq ans pour le Brent et le gasoil et 60 mois pour l’indice bitume. La collecte démarre avec l’application puis se répète chaque minute par défaut. La page se rafraîchit aussi chaque minute. Cela décrit la fréquence de consultation des sources : une source quotidienne ou mensuelle ne publie pas de nouvelles valeurs chaque minute. Les données restent accessibles même lorsque les sources sont temporairement indisponibles.</a:t>
            </a:r>
          </a:p>
          <a:p xmlns:a="http://schemas.openxmlformats.org/drawingml/2006/main">
            <a:r>
              <a:t/>
            </a:r>
          </a:p>
          <a:p xmlns:a="http://schemas.openxmlformats.org/drawingml/2006/main">
            <a:r>
              <a:t>Sources du projet :</a:t>
            </a:r>
          </a:p>
          <a:p xmlns:a="http://schemas.openxmlformats.org/drawingml/2006/main">
            <a:r>
              <a:t>README.md</a:t>
            </a:r>
          </a:p>
          <a:p xmlns:a="http://schemas.openxmlformats.org/drawingml/2006/main">
            <a:r>
              <a:t>price_monitor/config.py</a:t>
            </a:r>
          </a:p>
          <a:p xmlns:a="http://schemas.openxmlformats.org/drawingml/2006/main">
            <a:r>
              <a:t>reports/data_workflow/data_quality.json</a:t>
            </a:r>
          </a:p>
          <a:p xmlns:a="http://schemas.openxmlformats.org/drawingml/2006/main">
            <a:r>
              <a:t>reports/data_workflow/bitumen_data_quality.json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fonctionnement peut se résumer en quatre étapes. Les collecteurs interrogent les sources configurées et acceptent aussi les relevés manuels. L’application vérifie les valeurs, les dates et les unités avant de les conserver. Le stockage en base garde une trace des sources et des tentatives de collecte. Les services utilisent ensuite ces données pour le tableau de bord, les alertes, les prévisions et les exports. Un nouvel appel à une source ne doit pas créer inutilement une deuxième observation identique. Les erreurs partielles apparaissent dans le journal et ne font pas disparaître les données déjà enregistrées.</a:t>
            </a:r>
          </a:p>
          <a:p xmlns:a="http://schemas.openxmlformats.org/drawingml/2006/main">
            <a:r>
              <a:t/>
            </a:r>
          </a:p>
          <a:p xmlns:a="http://schemas.openxmlformats.org/drawingml/2006/main">
            <a:r>
              <a:t>Sources du projet :</a:t>
            </a:r>
          </a:p>
          <a:p xmlns:a="http://schemas.openxmlformats.org/drawingml/2006/main">
            <a:r>
              <a:t>price_monitor/services/collectors.py</a:t>
            </a:r>
          </a:p>
          <a:p xmlns:a="http://schemas.openxmlformats.org/drawingml/2006/main">
            <a:r>
              <a:t>price_monitor/database.py</a:t>
            </a:r>
          </a:p>
          <a:p xmlns:a="http://schemas.openxmlformats.org/drawingml/2006/main">
            <a:r>
              <a:t>price_monitor/services/scheduler.py</a:t>
            </a:r>
          </a:p>
          <a:p xmlns:a="http://schemas.openxmlformats.org/drawingml/2006/main">
            <a:r>
              <a:t>price_monitor/services/comparison.py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L’interface repose sur HTML, CSS et JavaScript. Chart.js affiche les graphiques dans le navigateur. Le serveur utilise le module HTTP de Python et expose des routes JSON. Les services regroupent la collecte, les alertes, les prévisions et les exports. La base est SQLite pour un usage local ou MySQL 8 selon la configuration, avec des migrations pour suivre le schéma. Le notebook et le pipeline d’analyse utilisent pandas, NumPy et scikit-learn. Cette séparation permet d’expliquer indépendamment l’interface, le traitement des données et les expériences de prévision.</a:t>
            </a:r>
          </a:p>
          <a:p xmlns:a="http://schemas.openxmlformats.org/drawingml/2006/main">
            <a:r>
              <a:t/>
            </a:r>
          </a:p>
          <a:p xmlns:a="http://schemas.openxmlformats.org/drawingml/2006/main">
            <a:r>
              <a:t>Sources du projet :</a:t>
            </a:r>
          </a:p>
          <a:p xmlns:a="http://schemas.openxmlformats.org/drawingml/2006/main">
            <a:r>
              <a:t>pyproject.toml</a:t>
            </a:r>
          </a:p>
          <a:p xmlns:a="http://schemas.openxmlformats.org/drawingml/2006/main">
            <a:r>
              <a:t>price_monitor/app.py</a:t>
            </a:r>
          </a:p>
          <a:p xmlns:a="http://schemas.openxmlformats.org/drawingml/2006/main">
            <a:r>
              <a:t>price_monitor/templates/index.html</a:t>
            </a:r>
          </a:p>
          <a:p xmlns:a="http://schemas.openxmlformats.org/drawingml/2006/main">
            <a:r>
              <a:t>price_monitor/database.py</a:t>
            </a:r>
          </a:p>
          <a:p xmlns:a="http://schemas.openxmlformats.org/drawingml/2006/main">
            <a:r>
              <a:t>price_monitor/analysis/pipeline.py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première règle est de distinguer la date de la donnée et le moment où l’application la récupère. Une collecte récente peut contenir une observation ancienne. Pour les cotations de marché, les alertes de fraîcheur se basent sur l’heure renvoyée par le fournisseur. La comparaison des API ne se fait que pour des séries équivalentes ayant la même date, la même unité et la même devise. FRED et Alpha Vantage relaient notamment des données EIA, donc leur accord vérifie la cohérence des flux et ne prouve pas une indépendance des sources. Le tableau de bord signale les données anciennes et les problèmes de connexion.</a:t>
            </a:r>
          </a:p>
          <a:p xmlns:a="http://schemas.openxmlformats.org/drawingml/2006/main">
            <a:r>
              <a:t/>
            </a:r>
          </a:p>
          <a:p xmlns:a="http://schemas.openxmlformats.org/drawingml/2006/main">
            <a:r>
              <a:t>Sources du projet :</a:t>
            </a:r>
          </a:p>
          <a:p xmlns:a="http://schemas.openxmlformats.org/drawingml/2006/main">
            <a:r>
              <a:t>price_monitor/services/comparison.py</a:t>
            </a:r>
          </a:p>
          <a:p xmlns:a="http://schemas.openxmlformats.org/drawingml/2006/main">
            <a:r>
              <a:t>price_monitor/services/connectivity.py</a:t>
            </a:r>
          </a:p>
          <a:p xmlns:a="http://schemas.openxmlformats.org/drawingml/2006/main">
            <a:r>
              <a:t>price_monitor/services/alerts.py</a:t>
            </a:r>
          </a:p>
          <a:p xmlns:a="http://schemas.openxmlformats.org/drawingml/2006/main">
            <a:r>
              <a: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service de prévision emploie une tendance amortie de Holt. Il actualise un niveau et une tendance, puis réduit progressivement l’effet de cette tendance dans le futur. Pour le Brent et le gasoil, les horizons sont 7, 30 et 90 jours calendaires à partir de la dernière date source. Pour l’indice bitume, ils sont 1, 3 et 6 mois. Le modèle exige au moins 30 observations. Il avance sur les jours manquants sans inventer de prix. Les bandes proviennent des erreurs résiduelles passées et s’élargissent avec l’horizon. Elles sont indicatives, avec une couverture historique mesurée, et ne garantissent pas une probabilité exacte de 95 %.</a:t>
            </a:r>
          </a:p>
          <a:p xmlns:a="http://schemas.openxmlformats.org/drawingml/2006/main">
            <a:r>
              <a:t/>
            </a:r>
          </a:p>
          <a:p xmlns:a="http://schemas.openxmlformats.org/drawingml/2006/main">
            <a:r>
              <a:t>Sources du projet :</a:t>
            </a:r>
          </a:p>
          <a:p xmlns:a="http://schemas.openxmlformats.org/drawingml/2006/main">
            <a:r>
              <a:t>price_monitor/services/forecasting.py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notebook couvre la définition du problème, les contrôles de qualité, l’exploration, la création de variables et l’évaluation. Les variables incluent les rendements passés, le momentum, la volatilité et des informations strictement antérieures de l’autre produit. Le découpage suit l’ordre des dates : les premiers 65 % servent au développement et à la validation chronologique, 15 % à la calibration des intervalles, puis les 20 % les plus récents au test final. Les transformations apprennent uniquement sur les données d’entraînement. Les cibles qui dépassent une frontière sont purgées. Le pipeline compare la persistance, Holt, Ridge, le gradient boosting et la forêt aléatoire. Les expériences quotidiennes portent sur le Brent et le gasoil.</a:t>
            </a:r>
          </a:p>
          <a:p xmlns:a="http://schemas.openxmlformats.org/drawingml/2006/main">
            <a:r>
              <a:t/>
            </a:r>
          </a:p>
          <a:p xmlns:a="http://schemas.openxmlformats.org/drawingml/2006/main">
            <a:r>
              <a:t>Sources du projet :</a:t>
            </a:r>
          </a:p>
          <a:p xmlns:a="http://schemas.openxmlformats.org/drawingml/2006/main">
            <a:r>
              <a:t>notebooks/data_workflow.ipynb</a:t>
            </a:r>
          </a:p>
          <a:p xmlns:a="http://schemas.openxmlformats.org/drawingml/2006/main">
            <a:r>
              <a:t>price_monitor/analysis/modeling.py</a:t>
            </a:r>
          </a:p>
          <a:p xmlns:a="http://schemas.openxmlformats.org/drawingml/2006/main">
            <a:r>
              <a:t>price_monitor/analysis/pipeline.py</a:t>
            </a:r>
          </a:p>
          <a:p xmlns:a="http://schemas.openxmlformats.org/drawingml/2006/main">
            <a:r>
              <a:t>reports/data_workflow/report.md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rapport applique un seuil : un candidat doit améliorer d’au moins 2 % l’erreur absolue moyenne de validation par rapport à la persistance. Sur le snapshot livré, la sélection retient la persistance pour chaque horizon Brent et gasoil. Ce modèle prévoit simplement le dernier prix observé. Les graphiques montrent son erreur absolue moyenne sur le test final, dans les unités propres à chaque produit. Pour le Brent, elle passe de 2,37 dollars par baril à un jour à 23,84 dollars à 90 jours. Pour le gasoil, elle passe de 0,087 à 0,780 dollar par gallon. Ces erreurs ne s’additionnent pas entre produits. Le pipeline de recherche et le service Holt du tableau de bord sont distincts. Les modèles de recherche ne remplacent pas automatiquement le modèle de l’application.</a:t>
            </a:r>
          </a:p>
          <a:p xmlns:a="http://schemas.openxmlformats.org/drawingml/2006/main">
            <a:r>
              <a:t/>
            </a:r>
          </a:p>
          <a:p xmlns:a="http://schemas.openxmlformats.org/drawingml/2006/main">
            <a:r>
              <a:t>Sources du projet :</a:t>
            </a:r>
          </a:p>
          <a:p xmlns:a="http://schemas.openxmlformats.org/drawingml/2006/main">
            <a:r>
              <a:t>reports/data_workflow/report.md, tableau Selected models</a:t>
            </a:r>
          </a:p>
          <a:p xmlns:a="http://schemas.openxmlformats.org/drawingml/2006/main">
            <a:r>
              <a:t>reports/data_workflow/holdout_metrics.csv</a:t>
            </a:r>
          </a:p>
          <a:p xmlns:a="http://schemas.openxmlformats.org/drawingml/2006/main">
            <a:r>
              <a:t>price_monitor/analysis/modeling.py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fichier local contient 60 indices mensuels WPU058, de septembre 2021 à août 2026. L’audit indique zéro mois manquant et un accord avec le fichier brut local. Cela établit une cohérence des fichiers, pas une validation indépendante de la source. Le graphique reprend les valeurs mensuelles du fichier traité. Les prévisions et les alertes sur cet indice restent séparées des devis en dollars par tonne. Les contrôles historiques du modèle Holt mensuel rapportent une erreur plus élevée que la persistance aux horizons étudiés. Le choix d’achat doit donc s’appuyer sur les devis et les conditions réelles. L’indice reste un indicateur américain de tendance.</a:t>
            </a:r>
          </a:p>
          <a:p xmlns:a="http://schemas.openxmlformats.org/drawingml/2006/main">
            <a:r>
              <a:t/>
            </a:r>
          </a:p>
          <a:p xmlns:a="http://schemas.openxmlformats.org/drawingml/2006/main">
            <a:r>
              <a:t>Sources du projet :</a:t>
            </a:r>
          </a:p>
          <a:p xmlns:a="http://schemas.openxmlformats.org/drawingml/2006/main">
            <a:r>
              <a:t>data/processed/bitumen_index.csv</a:t>
            </a:r>
          </a:p>
          <a:p xmlns:a="http://schemas.openxmlformats.org/drawingml/2006/main">
            <a:r>
              <a:t>reports/data_workflow/bitumen_data_quality.json</a:t>
            </a:r>
          </a:p>
          <a:p xmlns:a="http://schemas.openxmlformats.org/drawingml/2006/main">
            <a:r>
              <a:t>reports/data_workflow/bitumen_report.md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L’utilisateur consulte les prix et leurs statuts, puis explore les tendances ou les archives. Il peut créer une alerte quand une valeur passe au-dessus ou au-dessous d’un seuil. Pour le bitume, la règle distingue l’indice et le devis. Les alertes peuvent utiliser un email ou un webhook si le canal est configuré. Le suivi de fraîcheur des cotations peut aussi déclencher une notification. L’historique permet de filtrer les données et de comparer deux périodes. Les exports CSV et Excel facilitent leur utilisation dans un rapport. Le journal d’activité garde une trace des collectes complètes, partielles et en échec. Les notifications dépendent de l’application en fonctionnement et de la disponibilité du canal.</a:t>
            </a:r>
          </a:p>
          <a:p xmlns:a="http://schemas.openxmlformats.org/drawingml/2006/main">
            <a:r>
              <a:t/>
            </a:r>
          </a:p>
          <a:p xmlns:a="http://schemas.openxmlformats.org/drawingml/2006/main">
            <a:r>
              <a:t>Sources du projet :</a:t>
            </a:r>
          </a:p>
          <a:p xmlns:a="http://schemas.openxmlformats.org/drawingml/2006/main">
            <a:r>
              <a:t>price_monitor/services/alerts.py</a:t>
            </a:r>
          </a:p>
          <a:p xmlns:a="http://schemas.openxmlformats.org/drawingml/2006/main">
            <a:r>
              <a:t>price_monitor/services/export.py</a:t>
            </a:r>
          </a:p>
          <a:p xmlns:a="http://schemas.openxmlformats.org/drawingml/2006/main">
            <a:r>
              <a:t>price_monitor/static/app.js</a:t>
            </a:r>
          </a:p>
          <a:p xmlns:a="http://schemas.openxmlformats.org/drawingml/2006/main">
            <a:r>
              <a:t>README.md, Alertes de prix et de disponibilité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Prenons un exemple fictif pour expliquer le calcul, sans utiliser un prix de marché actuel. Un fournisseur propose 100 tonnes de bitume à 520 dollars par tonne. La marchandise coûte donc 52 000 dollars. Avec 2 500 dollars de transport, l’estimation atteint 54 500 dollars. Pour un budget prévu de 55 000 dollars, l’écart est de moins 500 dollars, donc l’estimation reste sous le budget. L’application enregistre aussi le fournisseur, la date, la devise et le taux de change. Son calcul de base additionne la marchandise et le transport. L’acheteur doit ajouter les autres frais pertinents au budget. L’application enregistre une estimation et ne place pas automatiquement une commande.</a:t>
            </a:r>
          </a:p>
          <a:p xmlns:a="http://schemas.openxmlformats.org/drawingml/2006/main">
            <a:r>
              <a:t/>
            </a:r>
          </a:p>
          <a:p xmlns:a="http://schemas.openxmlformats.org/drawingml/2006/main">
            <a:r>
              <a:t>Sources du projet :</a:t>
            </a:r>
          </a:p>
          <a:p xmlns:a="http://schemas.openxmlformats.org/drawingml/2006/main">
            <a:r>
              <a:t>README.md, Budget</a:t>
            </a:r>
          </a:p>
          <a:p xmlns:a="http://schemas.openxmlformats.org/drawingml/2006/main">
            <a:r>
              <a:t>price_monitor/database.py, données de procurement</a:t>
            </a:r>
          </a:p>
          <a:p xmlns:a="http://schemas.openxmlformats.org/drawingml/2006/main">
            <a:r>
              <a:t>Exemple fictif : 100 × 520 + 2500 = 54500 ; 54500 − 55000 = −500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projet peut fonctionner localement avec SQLite ou utiliser MySQL. Il contient aussi une configuration Docker et un fichier OpenAPI. Les écritures sur une instance publique ou en production exigent une clé API. Les tests couvrent notamment les données, les collectes, les exports, les alertes et les prévisions. Cette présentation décrit la couverture prévue dans les fichiers de tests, sans affirmer une exécution complète de la suite aujourd’hui. Les limites principales sont le décalage de publication des sources, la nature approximative des bandes de prévision et l’écart entre un benchmark et un prix réellement livré. Les archives historiques ne contiennent pas tous les horodatages de publication ni les anciennes versions : elles ne prouvent pas une disponibilité en temps réel à chaque date.</a:t>
            </a:r>
          </a:p>
          <a:p xmlns:a="http://schemas.openxmlformats.org/drawingml/2006/main">
            <a:r>
              <a:t/>
            </a:r>
          </a:p>
          <a:p xmlns:a="http://schemas.openxmlformats.org/drawingml/2006/main">
            <a:r>
              <a:t>Sources du projet :</a:t>
            </a:r>
          </a:p>
          <a:p xmlns:a="http://schemas.openxmlformats.org/drawingml/2006/main">
            <a:r>
              <a:t>Dockerfile</a:t>
            </a:r>
          </a:p>
          <a:p xmlns:a="http://schemas.openxmlformats.org/drawingml/2006/main">
            <a:r>
              <a:t>docker-compose.yml</a:t>
            </a:r>
          </a:p>
          <a:p xmlns:a="http://schemas.openxmlformats.org/drawingml/2006/main">
            <a:r>
              <a:t>openapi.json</a:t>
            </a:r>
          </a:p>
          <a:p xmlns:a="http://schemas.openxmlformats.org/drawingml/2006/main">
            <a:r>
              <a:t>price_monitor/app.py</a:t>
            </a:r>
          </a:p>
          <a:p xmlns:a="http://schemas.openxmlformats.org/drawingml/2006/main">
            <a:r>
              <a:t>tests/</a:t>
            </a:r>
          </a:p>
          <a:p xmlns:a="http://schemas.openxmlformats.org/drawingml/2006/main">
            <a:r>
              <a:t>reports/data_workflow/report.md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Pour conclure, Price Monitor organise le suivi de trois produits et conserve le contexte nécessaire pour interpréter les données. Le tableau de bord donne accès à l’historique et à des alertes. Les outils de budget relient les devis fournisseur à une estimation de coût. L’analyse des modèles montre aussi une démarche de mesure : le projet conserve une méthode simple lorsque les méthodes complexes n’améliorent pas suffisamment les résultats. La prochaine étape utile est de vérifier ces résultats sur de nouvelles données, puis d’enrichir les informations sur les fournisseurs et les frais de livraison selon le besoin métier. Ces étapes sont des pistes d’évolution, pas des fonctionnalités déjà promises.</a:t>
            </a:r>
          </a:p>
          <a:p xmlns:a="http://schemas.openxmlformats.org/drawingml/2006/main">
            <a:r>
              <a:t/>
            </a:r>
          </a:p>
          <a:p xmlns:a="http://schemas.openxmlformats.org/drawingml/2006/main">
            <a:r>
              <a:t>Sources du projet :</a:t>
            </a:r>
          </a:p>
          <a:p xmlns:a="http://schemas.openxmlformats.org/drawingml/2006/main">
            <a:r>
              <a:t>README.md</a:t>
            </a:r>
          </a:p>
          <a:p xmlns:a="http://schemas.openxmlformats.org/drawingml/2006/main">
            <a:r>
              <a:t>reports/data_workflow/report.md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8015b06a92b47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521844879d4bd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ff8bd72fee1467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92a5849adf24b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7e0504ab6f241b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eabd5380d7840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C52145-DCB2-4605-9F0A-631C815CCA2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CE01400-5AE2-4D81-8E09-3EB9C55674D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71CA529-63E8-44B4-874C-F263951692C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EB75E42-FEF8-406D-93C8-55955BF187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10FF464-7DC7-4523-87FD-3F3744CC0A1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A7ACCA-1146-441A-AB75-E224C04A9F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F4EEA7-5A11-4696-BBAD-86E97246DD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BFAFE4B-296B-4A70-A0C3-07D36DA71D3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732914-77A8-4097-92B0-EE3B78BA94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98D37D7-7D09-4CEA-87FC-F2A32B187C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73d6265130b4f14" /><Relationship Type="http://schemas.openxmlformats.org/officeDocument/2006/relationships/slideLayout" Target="/ppt/slideLayouts/slideLayout1.xml" Id="Rdb0770137de74297" /><Relationship Type="http://schemas.openxmlformats.org/officeDocument/2006/relationships/slideLayout" Target="/ppt/slideLayouts/slideLayout2.xml" Id="Re1c9f36d74714244" /><Relationship Type="http://schemas.openxmlformats.org/officeDocument/2006/relationships/slideLayout" Target="/ppt/slideLayouts/slideLayout3.xml" Id="Rc7a7dad670d0489c" /><Relationship Type="http://schemas.openxmlformats.org/officeDocument/2006/relationships/slideLayout" Target="/ppt/slideLayouts/slideLayout4.xml" Id="R8153b33ecb734601" /><Relationship Type="http://schemas.openxmlformats.org/officeDocument/2006/relationships/slideLayout" Target="/ppt/slideLayouts/slideLayout5.xml" Id="R62b6e4c8d8704f83" /><Relationship Type="http://schemas.openxmlformats.org/officeDocument/2006/relationships/slideLayout" Target="/ppt/slideLayouts/slideLayout6.xml" Id="Re0d92aa742554a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0770137de74297"/>
    <p:sldLayoutId xmlns:r="http://schemas.openxmlformats.org/officeDocument/2006/relationships" id="2147483650" r:id="Re1c9f36d74714244"/>
    <p:sldLayoutId xmlns:r="http://schemas.openxmlformats.org/officeDocument/2006/relationships" id="2147483651" r:id="Rc7a7dad670d0489c"/>
    <p:sldLayoutId xmlns:r="http://schemas.openxmlformats.org/officeDocument/2006/relationships" id="2147483652" r:id="R8153b33ecb734601"/>
    <p:sldLayoutId xmlns:r="http://schemas.openxmlformats.org/officeDocument/2006/relationships" id="2147483653" r:id="R62b6e4c8d8704f83"/>
    <p:sldLayoutId xmlns:r="http://schemas.openxmlformats.org/officeDocument/2006/relationships" id="2147483654" r:id="Re0d92aa742554a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bd888aad14e4d81" /><Relationship Type="http://schemas.openxmlformats.org/officeDocument/2006/relationships/image" Target="/ppt/media/image.png" Id="Rdd43262235ab40ac" /><Relationship Type="http://schemas.openxmlformats.org/officeDocument/2006/relationships/notesSlide" Target="/ppt/notesSlides/notesSlide1.xml" Id="R9af9b7274bf14c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d4605614c7342cc" /><Relationship Type="http://schemas.openxmlformats.org/officeDocument/2006/relationships/notesSlide" Target="/ppt/notesSlides/notesSlide2.xml" Id="Rdd1df3d39c3346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77fc5fbe5aa4787" /><Relationship Type="http://schemas.openxmlformats.org/officeDocument/2006/relationships/notesSlide" Target="/ppt/notesSlides/notesSlide3.xml" Id="R340431afcb704e5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83e5024b9c04ce9" /><Relationship Type="http://schemas.openxmlformats.org/officeDocument/2006/relationships/notesSlide" Target="/ppt/notesSlides/notesSlide4.xml" Id="R015b93b7de4243a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40d8562ee2e4884" /><Relationship Type="http://schemas.openxmlformats.org/officeDocument/2006/relationships/notesSlide" Target="/ppt/notesSlides/notesSlide5.xml" Id="R8a0cb63cbaee4d5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a0bde5934154dcc" /><Relationship Type="http://schemas.openxmlformats.org/officeDocument/2006/relationships/notesSlide" Target="/ppt/notesSlides/notesSlide6.xml" Id="R98208e9040d441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d1fc4b723254d92" /><Relationship Type="http://schemas.openxmlformats.org/officeDocument/2006/relationships/notesSlide" Target="/ppt/notesSlides/notesSlide7.xml" Id="R2ab2fd04b22548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b43e4efbfcc41aa" /><Relationship Type="http://schemas.openxmlformats.org/officeDocument/2006/relationships/notesSlide" Target="/ppt/notesSlides/notesSlide8.xml" Id="R2079a9b418e741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705bcdcd1b24f95" /><Relationship Type="http://schemas.openxmlformats.org/officeDocument/2006/relationships/notesSlide" Target="/ppt/notesSlides/notesSlide9.xml" Id="R06ea2bfd2a284d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98aa5dce3664463" /><Relationship Type="http://schemas.openxmlformats.org/officeDocument/2006/relationships/chart" Target="/ppt/slides/charts/chart1.xml" Id="R405da2d552c34680" /><Relationship Type="http://schemas.openxmlformats.org/officeDocument/2006/relationships/chart" Target="/ppt/slides/charts/chart2.xml" Id="Ra444e9d3530c43c3" /><Relationship Type="http://schemas.openxmlformats.org/officeDocument/2006/relationships/notesSlide" Target="/ppt/notesSlides/notesSlide10.xml" Id="Rd7acb33a709c43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64969515cae48ea" /><Relationship Type="http://schemas.openxmlformats.org/officeDocument/2006/relationships/chart" Target="/ppt/slides/charts/chart3.xml" Id="Rc085750042e644f9" /><Relationship Type="http://schemas.openxmlformats.org/officeDocument/2006/relationships/notesSlide" Target="/ppt/notesSlides/notesSlide11.xml" Id="Rbfcc10151531456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bbf385f35304a64" /><Relationship Type="http://schemas.openxmlformats.org/officeDocument/2006/relationships/notesSlide" Target="/ppt/notesSlides/notesSlide12.xml" Id="R7c4a9780cdb5457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a060759fb2b4786" /><Relationship Type="http://schemas.openxmlformats.org/officeDocument/2006/relationships/notesSlide" Target="/ppt/notesSlides/notesSlide13.xml" Id="R77263d3dc1a2484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57a27593bcfd421b" /><Relationship Type="http://schemas.openxmlformats.org/officeDocument/2006/relationships/notesSlide" Target="/ppt/notesSlides/notesSlide14.xml" Id="Rddbb40a2f25c42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0ebf63f456c4a56" /><Relationship Type="http://schemas.openxmlformats.org/officeDocument/2006/relationships/notesSlide" Target="/ppt/notesSlides/notesSlide15.xml" Id="Re0da54886305443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2D3C"/>
                </a:solidFill>
                <a:latin typeface="Arial"/>
                <a:ea typeface="Arial"/>
                <a:cs typeface="Arial"/>
              </a:rPr>
              <a:t>Brent : MAE en USD / baril</a:t>
            </a:r>
          </a:p>
        </c:rich>
      </c:tx>
      <c:overlay val="0"/>
      <c:txPr>
        <a:bodyPr xmlns:a="http://schemas.openxmlformats.org/drawingml/2006/main" anchorCtr="1"/>
        <a:lstStyle xmlns:a="http://schemas.openxmlformats.org/drawingml/2006/main"/>
        <a:p xmlns:a="http://schemas.openxmlformats.org/drawingml/2006/main">
          <a:pPr>
            <a:defRPr sz="1875" b="1">
              <a:solidFill>
                <a:srgbClr val="172D3C"/>
              </a:solidFill>
              <a:latin typeface="Arial"/>
              <a:ea typeface="Arial"/>
              <a:cs typeface="Arial"/>
            </a:defRPr>
          </a:pPr>
        </a:p>
      </c:txPr>
    </c:title>
    <c:plotArea>
      <c:barChart>
        <c:barDir val="col"/>
        <c:grouping val="clustered"/>
        <c:varyColors val="0"/>
        <c:ser>
          <c:idx val="0"/>
          <c:order val="0"/>
          <c:tx>
            <c:v>Erreur absolue moyenne</c:v>
          </c:tx>
          <c:spPr>
            <a:solidFill xmlns:a="http://schemas.openxmlformats.org/drawingml/2006/main">
              <a:srgbClr val="087F83"/>
            </a:solidFill>
          </c:spPr>
          <c:invertIfNegative val="0"/>
          <c:cat>
            <c:strRef>
              <c:f>'Chart Data'!$A$2:$A$5</c:f>
              <c:strCache>
                <c:ptCount val="4"/>
                <c:pt idx="0">
                  <c:v>1 jour</c:v>
                </c:pt>
                <c:pt idx="1">
                  <c:v>7 jours</c:v>
                </c:pt>
                <c:pt idx="2">
                  <c:v>30 jours</c:v>
                </c:pt>
                <c:pt idx="3">
                  <c:v>90 jours</c:v>
                </c:pt>
              </c:strCache>
            </c:strRef>
          </c:cat>
          <c:val>
            <c:numRef>
              <c:f>'Chart Data'!$B$2:$B$5</c:f>
              <c:numCache>
                <c:formatCode>0.00</c:formatCode>
                <c:ptCount val="4"/>
                <c:pt idx="0">
                  <c:v>2.3677</c:v>
                </c:pt>
                <c:pt idx="1">
                  <c:v>5.4362</c:v>
                </c:pt>
                <c:pt idx="2">
                  <c:v>12.4009</c:v>
                </c:pt>
                <c:pt idx="3">
                  <c:v>23.8418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a:solidFill>
                    <a:srgbClr val="172D3C"/>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516573"/>
                </a:solidFill>
                <a:latin typeface="Arial"/>
                <a:ea typeface="Arial"/>
                <a:cs typeface="Arial"/>
              </a:defRPr>
            </a:pPr>
          </a:p>
        </c:txPr>
        <c:crossAx val="48672768"/>
      </c:catAx>
      <c:valAx>
        <c:axId val="48672768"/>
        <c:scaling>
          <c:orientation val="minMax"/>
          <c:max val="30"/>
          <c:min val="0"/>
        </c:scaling>
        <c:delete val="0"/>
        <c:axPos val="l"/>
        <c:majorGridlines>
          <c:spPr>
            <a:ln xmlns:a="http://schemas.openxmlformats.org/drawingml/2006/main" w="9525">
              <a:solidFill>
                <a:srgbClr val="DCE5E9"/>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16573"/>
                </a:solidFill>
                <a:latin typeface="Arial"/>
                <a:ea typeface="Arial"/>
                <a:cs typeface="Arial"/>
              </a:defRPr>
            </a:pPr>
          </a:p>
        </c:txPr>
        <c:crossAx val="48650112"/>
        <c:crossBetween val="between"/>
      </c:valAx>
      <c:spPr>
        <a:solidFill xmlns:a="http://schemas.openxmlformats.org/drawingml/2006/main">
          <a:srgbClr val="F4F7F8"/>
        </a:solidFill>
      </c:spPr>
    </c:plotArea>
    <c:plotVisOnly val="1"/>
  </c:chart>
  <c:spPr>
    <a:solidFill xmlns:a="http://schemas.openxmlformats.org/drawingml/2006/main">
      <a:srgbClr val="F4F7F8"/>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75" b="1">
                <a:solidFill>
                  <a:srgbClr val="172D3C"/>
                </a:solidFill>
                <a:latin typeface="Arial"/>
                <a:ea typeface="Arial"/>
                <a:cs typeface="Arial"/>
              </a:rPr>
              <a:t>Gasoil : MAE en USD / gallon</a:t>
            </a:r>
          </a:p>
        </c:rich>
      </c:tx>
      <c:overlay val="0"/>
      <c:txPr>
        <a:bodyPr xmlns:a="http://schemas.openxmlformats.org/drawingml/2006/main" anchorCtr="1"/>
        <a:lstStyle xmlns:a="http://schemas.openxmlformats.org/drawingml/2006/main"/>
        <a:p xmlns:a="http://schemas.openxmlformats.org/drawingml/2006/main">
          <a:pPr>
            <a:defRPr sz="1875" b="1">
              <a:solidFill>
                <a:srgbClr val="172D3C"/>
              </a:solidFill>
              <a:latin typeface="Arial"/>
              <a:ea typeface="Arial"/>
              <a:cs typeface="Arial"/>
            </a:defRPr>
          </a:pPr>
        </a:p>
      </c:txPr>
    </c:title>
    <c:plotArea>
      <c:barChart>
        <c:barDir val="col"/>
        <c:grouping val="clustered"/>
        <c:varyColors val="0"/>
        <c:ser>
          <c:idx val="0"/>
          <c:order val="0"/>
          <c:tx>
            <c:v>Erreur absolue moyenne</c:v>
          </c:tx>
          <c:spPr>
            <a:solidFill xmlns:a="http://schemas.openxmlformats.org/drawingml/2006/main">
              <a:srgbClr val="B86634"/>
            </a:solidFill>
          </c:spPr>
          <c:invertIfNegative val="0"/>
          <c:cat>
            <c:strRef>
              <c:f>'Chart Data'!$A$2:$A$5</c:f>
              <c:strCache>
                <c:ptCount val="4"/>
                <c:pt idx="0">
                  <c:v>1 jour</c:v>
                </c:pt>
                <c:pt idx="1">
                  <c:v>7 jours</c:v>
                </c:pt>
                <c:pt idx="2">
                  <c:v>30 jours</c:v>
                </c:pt>
                <c:pt idx="3">
                  <c:v>90 jours</c:v>
                </c:pt>
              </c:strCache>
            </c:strRef>
          </c:cat>
          <c:val>
            <c:numRef>
              <c:f>'Chart Data'!$B$2:$B$5</c:f>
              <c:numCache>
                <c:formatCode>0.000</c:formatCode>
                <c:ptCount val="4"/>
                <c:pt idx="0">
                  <c:v>0.0866</c:v>
                </c:pt>
                <c:pt idx="1">
                  <c:v>0.1862</c:v>
                </c:pt>
                <c:pt idx="2">
                  <c:v>0.4587</c:v>
                </c:pt>
                <c:pt idx="3">
                  <c:v>0.7799</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00">
                  <a:solidFill>
                    <a:srgbClr val="172D3C"/>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5E9"/>
            </a:solidFill>
          </a:ln>
        </c:spPr>
        <c:txPr>
          <a:bodyPr xmlns:a="http://schemas.openxmlformats.org/drawingml/2006/main" anchorCtr="1"/>
          <a:lstStyle xmlns:a="http://schemas.openxmlformats.org/drawingml/2006/main"/>
          <a:p xmlns:a="http://schemas.openxmlformats.org/drawingml/2006/main">
            <a:pPr>
              <a:defRPr sz="1350">
                <a:solidFill>
                  <a:srgbClr val="516573"/>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CE5E9"/>
              </a:solidFill>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16573"/>
                </a:solidFill>
                <a:latin typeface="Arial"/>
                <a:ea typeface="Arial"/>
                <a:cs typeface="Arial"/>
              </a:defRPr>
            </a:pPr>
          </a:p>
        </c:txPr>
        <c:crossAx val="48650112"/>
        <c:crossBetween val="between"/>
      </c:valAx>
      <c:spPr>
        <a:solidFill xmlns:a="http://schemas.openxmlformats.org/drawingml/2006/main">
          <a:srgbClr val="F4F7F8"/>
        </a:solidFill>
      </c:spPr>
    </c:plotArea>
    <c:plotVisOnly val="1"/>
  </c:chart>
  <c:spPr>
    <a:solidFill xmlns:a="http://schemas.openxmlformats.org/drawingml/2006/main">
      <a:srgbClr val="F4F7F8"/>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varyColors val="0"/>
        <c:ser>
          <c:idx val="0"/>
          <c:order val="0"/>
          <c:tx>
            <c:v>WPU058</c:v>
          </c:tx>
          <c:spPr>
            <a:ln xmlns:a="http://schemas.openxmlformats.org/drawingml/2006/main" w="28575">
              <a:solidFill>
                <a:srgbClr val="087F83"/>
              </a:solidFill>
            </a:ln>
          </c:spPr>
          <c:marker>
            <c:symbol val="none"/>
          </c:marker>
          <c:cat>
            <c:strRef>
              <c:f>'Chart Data'!$A$2:$A$61</c:f>
              <c:strCache>
                <c:ptCount val="60"/>
                <c:pt idx="0">
                  <c:v>2021-09-01</c:v>
                </c:pt>
                <c:pt idx="1">
                  <c:v>2021-10-01</c:v>
                </c:pt>
                <c:pt idx="2">
                  <c:v>2021-11-01</c:v>
                </c:pt>
                <c:pt idx="3">
                  <c:v>2021-12-01</c:v>
                </c:pt>
                <c:pt idx="4">
                  <c:v>2022-01-01</c:v>
                </c:pt>
                <c:pt idx="5">
                  <c:v>2022-02-01</c:v>
                </c:pt>
                <c:pt idx="6">
                  <c:v>2022-03-01</c:v>
                </c:pt>
                <c:pt idx="7">
                  <c:v>2022-04-01</c:v>
                </c:pt>
                <c:pt idx="8">
                  <c:v>2022-05-01</c:v>
                </c:pt>
                <c:pt idx="9">
                  <c:v>2022-06-01</c:v>
                </c:pt>
                <c:pt idx="10">
                  <c:v>2022-07-01</c:v>
                </c:pt>
                <c:pt idx="11">
                  <c:v>2022-08-01</c:v>
                </c:pt>
                <c:pt idx="12">
                  <c:v>2022-09-01</c:v>
                </c:pt>
                <c:pt idx="13">
                  <c:v>2022-10-01</c:v>
                </c:pt>
                <c:pt idx="14">
                  <c:v>2022-11-01</c:v>
                </c:pt>
                <c:pt idx="15">
                  <c:v>2022-12-01</c:v>
                </c:pt>
                <c:pt idx="16">
                  <c:v>2023-01-01</c:v>
                </c:pt>
                <c:pt idx="17">
                  <c:v>2023-02-01</c:v>
                </c:pt>
                <c:pt idx="18">
                  <c:v>2023-03-01</c:v>
                </c:pt>
                <c:pt idx="19">
                  <c:v>2023-04-01</c:v>
                </c:pt>
                <c:pt idx="20">
                  <c:v>2023-05-01</c:v>
                </c:pt>
                <c:pt idx="21">
                  <c:v>2023-06-01</c:v>
                </c:pt>
                <c:pt idx="22">
                  <c:v>2023-07-01</c:v>
                </c:pt>
                <c:pt idx="23">
                  <c:v>2023-08-01</c:v>
                </c:pt>
                <c:pt idx="24">
                  <c:v>2023-09-01</c:v>
                </c:pt>
                <c:pt idx="25">
                  <c:v>2023-10-01</c:v>
                </c:pt>
                <c:pt idx="26">
                  <c:v>2023-11-01</c:v>
                </c:pt>
                <c:pt idx="27">
                  <c:v>2023-12-01</c:v>
                </c:pt>
                <c:pt idx="28">
                  <c:v>2024-01-01</c:v>
                </c:pt>
                <c:pt idx="29">
                  <c:v>2024-02-01</c:v>
                </c:pt>
                <c:pt idx="30">
                  <c:v>2024-03-01</c:v>
                </c:pt>
                <c:pt idx="31">
                  <c:v>2024-04-01</c:v>
                </c:pt>
                <c:pt idx="32">
                  <c:v>2024-05-01</c:v>
                </c:pt>
                <c:pt idx="33">
                  <c:v>2024-06-01</c:v>
                </c:pt>
                <c:pt idx="34">
                  <c:v>2024-07-01</c:v>
                </c:pt>
                <c:pt idx="35">
                  <c:v>2024-08-01</c:v>
                </c:pt>
                <c:pt idx="36">
                  <c:v>2024-09-01</c:v>
                </c:pt>
                <c:pt idx="37">
                  <c:v>2024-10-01</c:v>
                </c:pt>
                <c:pt idx="38">
                  <c:v>2024-11-01</c:v>
                </c:pt>
                <c:pt idx="39">
                  <c:v>2024-12-01</c:v>
                </c:pt>
                <c:pt idx="40">
                  <c:v>2025-01-01</c:v>
                </c:pt>
                <c:pt idx="41">
                  <c:v>2025-02-01</c:v>
                </c:pt>
                <c:pt idx="42">
                  <c:v>2025-03-01</c:v>
                </c:pt>
                <c:pt idx="43">
                  <c:v>2025-04-01</c:v>
                </c:pt>
                <c:pt idx="44">
                  <c:v>2025-05-01</c:v>
                </c:pt>
                <c:pt idx="45">
                  <c:v>2025-06-01</c:v>
                </c:pt>
                <c:pt idx="46">
                  <c:v>2025-07-01</c:v>
                </c:pt>
                <c:pt idx="47">
                  <c:v>2025-08-01</c:v>
                </c:pt>
                <c:pt idx="48">
                  <c:v>2025-09-01</c:v>
                </c:pt>
                <c:pt idx="49">
                  <c:v>2025-10-01</c:v>
                </c:pt>
                <c:pt idx="50">
                  <c:v>2025-11-01</c:v>
                </c:pt>
                <c:pt idx="51">
                  <c:v>2025-12-01</c:v>
                </c:pt>
                <c:pt idx="52">
                  <c:v>2026-01-01</c:v>
                </c:pt>
                <c:pt idx="53">
                  <c:v>2026-02-01</c:v>
                </c:pt>
                <c:pt idx="54">
                  <c:v>2026-03-01</c:v>
                </c:pt>
                <c:pt idx="55">
                  <c:v>2026-04-01</c:v>
                </c:pt>
                <c:pt idx="56">
                  <c:v>2026-05-01</c:v>
                </c:pt>
                <c:pt idx="57">
                  <c:v>2026-06-01</c:v>
                </c:pt>
                <c:pt idx="58">
                  <c:v>2026-07-01</c:v>
                </c:pt>
                <c:pt idx="59">
                  <c:v>2026-08-01</c:v>
                </c:pt>
              </c:strCache>
            </c:strRef>
          </c:cat>
          <c:val>
            <c:numRef>
              <c:f>'Chart Data'!$B$2:$B$61</c:f>
              <c:numCache>
                <c:formatCode>0</c:formatCode>
                <c:ptCount val="60"/>
                <c:pt idx="0">
                  <c:v>338.217</c:v>
                </c:pt>
                <c:pt idx="1">
                  <c:v>342.458</c:v>
                </c:pt>
                <c:pt idx="2">
                  <c:v>376.741</c:v>
                </c:pt>
                <c:pt idx="3">
                  <c:v>408.154</c:v>
                </c:pt>
                <c:pt idx="4">
                  <c:v>404.808</c:v>
                </c:pt>
                <c:pt idx="5">
                  <c:v>434.651</c:v>
                </c:pt>
                <c:pt idx="6">
                  <c:v>460.651</c:v>
                </c:pt>
                <c:pt idx="7">
                  <c:v>507.501</c:v>
                </c:pt>
                <c:pt idx="8">
                  <c:v>557.391</c:v>
                </c:pt>
                <c:pt idx="9">
                  <c:v>559.772</c:v>
                </c:pt>
                <c:pt idx="10">
                  <c:v>528.04</c:v>
                </c:pt>
                <c:pt idx="11">
                  <c:v>518.67</c:v>
                </c:pt>
                <c:pt idx="12">
                  <c:v>462.707</c:v>
                </c:pt>
                <c:pt idx="13">
                  <c:v>505.156</c:v>
                </c:pt>
                <c:pt idx="14">
                  <c:v>527.984</c:v>
                </c:pt>
                <c:pt idx="15">
                  <c:v>477.291</c:v>
                </c:pt>
                <c:pt idx="16">
                  <c:v>433.119</c:v>
                </c:pt>
                <c:pt idx="17">
                  <c:v>426.812</c:v>
                </c:pt>
                <c:pt idx="18">
                  <c:v>489.816</c:v>
                </c:pt>
                <c:pt idx="19">
                  <c:v>379.038</c:v>
                </c:pt>
                <c:pt idx="20">
                  <c:v>331.876</c:v>
                </c:pt>
                <c:pt idx="21">
                  <c:v>353.569</c:v>
                </c:pt>
                <c:pt idx="22">
                  <c:v>350.733</c:v>
                </c:pt>
                <c:pt idx="23">
                  <c:v>354.22</c:v>
                </c:pt>
                <c:pt idx="24">
                  <c:v>376.112</c:v>
                </c:pt>
                <c:pt idx="25">
                  <c:v>424.852</c:v>
                </c:pt>
                <c:pt idx="26">
                  <c:v>383.912</c:v>
                </c:pt>
                <c:pt idx="27">
                  <c:v>338.198</c:v>
                </c:pt>
                <c:pt idx="28">
                  <c:v>334.323</c:v>
                </c:pt>
                <c:pt idx="29">
                  <c:v>321.52</c:v>
                </c:pt>
                <c:pt idx="30">
                  <c:v>291.533</c:v>
                </c:pt>
                <c:pt idx="31">
                  <c:v>303.851</c:v>
                </c:pt>
                <c:pt idx="32">
                  <c:v>310.387</c:v>
                </c:pt>
                <c:pt idx="33">
                  <c:v>319.49</c:v>
                </c:pt>
                <c:pt idx="34">
                  <c:v>301.233</c:v>
                </c:pt>
                <c:pt idx="35">
                  <c:v>306.112</c:v>
                </c:pt>
                <c:pt idx="36">
                  <c:v>313.728</c:v>
                </c:pt>
                <c:pt idx="37">
                  <c:v>305.652</c:v>
                </c:pt>
                <c:pt idx="38">
                  <c:v>302.617</c:v>
                </c:pt>
                <c:pt idx="39">
                  <c:v>305.182</c:v>
                </c:pt>
                <c:pt idx="40">
                  <c:v>336.166</c:v>
                </c:pt>
                <c:pt idx="41">
                  <c:v>374.492</c:v>
                </c:pt>
                <c:pt idx="42">
                  <c:v>377.533</c:v>
                </c:pt>
                <c:pt idx="43">
                  <c:v>379.257</c:v>
                </c:pt>
                <c:pt idx="44">
                  <c:v>393.531</c:v>
                </c:pt>
                <c:pt idx="45">
                  <c:v>394.597</c:v>
                </c:pt>
                <c:pt idx="46">
                  <c:v>371.578</c:v>
                </c:pt>
                <c:pt idx="47">
                  <c:v>353.717</c:v>
                </c:pt>
                <c:pt idx="48">
                  <c:v>371.496</c:v>
                </c:pt>
                <c:pt idx="49">
                  <c:v>423.153</c:v>
                </c:pt>
                <c:pt idx="50">
                  <c:v>376.59</c:v>
                </c:pt>
                <c:pt idx="51">
                  <c:v>378.376</c:v>
                </c:pt>
                <c:pt idx="52">
                  <c:v>399.534</c:v>
                </c:pt>
                <c:pt idx="53">
                  <c:v>432.983</c:v>
                </c:pt>
                <c:pt idx="54">
                  <c:v>455.164</c:v>
                </c:pt>
                <c:pt idx="55">
                  <c:v>481.933</c:v>
                </c:pt>
                <c:pt idx="56">
                  <c:v>531.835</c:v>
                </c:pt>
                <c:pt idx="57">
                  <c:v>553.235</c:v>
                </c:pt>
                <c:pt idx="58">
                  <c:v>557.994</c:v>
                </c:pt>
                <c:pt idx="59">
                  <c:v>546.938</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max val="600"/>
          <c:min val="250"/>
        </c:scaling>
        <c:delete val="0"/>
        <c:axPos val="l"/>
        <c:majorGridlines>
          <c:spPr>
            <a:ln xmlns:a="http://schemas.openxmlformats.org/drawingml/2006/main" w="9525">
              <a:solidFill>
                <a:srgbClr val="DCE5E9"/>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16573"/>
                </a:solidFill>
                <a:latin typeface="Arial"/>
                <a:ea typeface="Arial"/>
                <a:cs typeface="Arial"/>
              </a:defRPr>
            </a:pPr>
          </a:p>
        </c:txPr>
        <c:crossAx val="48650112"/>
        <c:crossBetween val="between"/>
      </c:valAx>
      <c:spPr>
        <a:solidFill xmlns:a="http://schemas.openxmlformats.org/drawingml/2006/main">
          <a:srgbClr val="F4F7F8"/>
        </a:solidFill>
      </c:spPr>
    </c:plotArea>
    <c:plotVisOnly val="1"/>
  </c:chart>
  <c:spPr>
    <a:solidFill xmlns:a="http://schemas.openxmlformats.org/drawingml/2006/main">
      <a:srgbClr val="F4F7F8"/>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81521"/>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F68D9CA2-7302-44C6-991B-60AE581B49E5}"/>
              </a:ext>
            </a:extLst>
          </p:cNvPr>
          <p:cNvPicPr>
            <a:picLocks xmlns:a="http://schemas.openxmlformats.org/drawingml/2006/main" noChangeAspect="1"/>
          </p:cNvPicPr>
          <p:nvPr/>
        </p:nvPicPr>
        <p:blipFill>
          <a:blip xmlns:r="http://schemas.openxmlformats.org/officeDocument/2006/relationships" xmlns:a="http://schemas.openxmlformats.org/drawingml/2006/main" r:embed="Rdd43262235ab40a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Price Monitor">
            <a:extLst xmlns:a="http://schemas.openxmlformats.org/drawingml/2006/main">
              <a:ext uri="{FF2B5EF4-FFF2-40B4-BE49-F238E27FC236}">
                <a16:creationId xmlns:a16="http://schemas.microsoft.com/office/drawing/2014/main" id="{213CEB5E-DF40-4DA0-8731-85A0B1750C5B}"/>
              </a:ext>
            </a:extLst>
          </p:cNvPr>
          <p:cNvSpPr>
            <a:spLocks xmlns:a="http://schemas.openxmlformats.org/drawingml/2006/main" noGrp="1"/>
          </p:cNvSpPr>
          <p:nvPr/>
        </p:nvSpPr>
        <p:spPr>
          <a:xfrm xmlns:a="http://schemas.openxmlformats.org/drawingml/2006/main">
            <a:off x="685800" y="1638300"/>
            <a:ext cx="685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​Price Monitor</a:t>
            </a:r>
          </a:p>
        </p:txBody>
      </p:sp>
      <p:sp>
        <p:nvSpPr>
          <p:cNvPr id="3" name="Suivi du Brent, du gasoil&#10;et du bitume">
            <a:extLst xmlns:a="http://schemas.openxmlformats.org/drawingml/2006/main">
              <a:ext uri="{FF2B5EF4-FFF2-40B4-BE49-F238E27FC236}">
                <a16:creationId xmlns:a16="http://schemas.microsoft.com/office/drawing/2014/main" id="{5831483B-A9BC-474F-818D-8D1C28637081}"/>
              </a:ext>
            </a:extLst>
          </p:cNvPr>
          <p:cNvSpPr>
            <a:spLocks xmlns:a="http://schemas.openxmlformats.org/drawingml/2006/main" noGrp="1"/>
          </p:cNvSpPr>
          <p:nvPr/>
        </p:nvSpPr>
        <p:spPr>
          <a:xfrm xmlns:a="http://schemas.openxmlformats.org/drawingml/2006/main">
            <a:off x="723900" y="2781300"/>
            <a:ext cx="6000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FFFFFF"/>
                </a:solidFill>
                <a:latin typeface="Arial"/>
                <a:ea typeface="Arial"/>
                <a:cs typeface="Arial"/>
              </a:defRPr>
            </a:defPPr>
          </a:lstStyle>
          <a:p xmlns:a="http://schemas.openxmlformats.org/drawingml/2006/main">
            <a:pPr algn="l">
              <a:defRPr sz="2700" b="0">
                <a:solidFill>
                  <a:srgbClr val="FFFFFF"/>
                </a:solidFill>
                <a:latin typeface="Arial"/>
                <a:ea typeface="Arial"/>
                <a:cs typeface="Arial"/>
              </a:defRPr>
            </a:pPr>
            <a:r>
              <a:rPr sz="2700" b="0">
                <a:solidFill>
                  <a:srgbClr val="FFFFFF"/>
                </a:solidFill>
                <a:latin typeface="Arial"/>
                <a:ea typeface="Arial"/>
                <a:cs typeface="Arial"/>
              </a:rPr>
              <a:t>​Suivi du Brent, du gasoil</a:t>
            </a:r>
          </a:p>
          <a:p xmlns:a="http://schemas.openxmlformats.org/drawingml/2006/main">
            <a:pPr algn="l">
              <a:defRPr sz="2700" b="0">
                <a:solidFill>
                  <a:srgbClr val="FFFFFF"/>
                </a:solidFill>
                <a:latin typeface="Arial"/>
                <a:ea typeface="Arial"/>
                <a:cs typeface="Arial"/>
              </a:defRPr>
            </a:pPr>
            <a:r>
              <a:rPr sz="2700" b="0">
                <a:solidFill>
                  <a:srgbClr val="FFFFFF"/>
                </a:solidFill>
                <a:latin typeface="Arial"/>
                <a:ea typeface="Arial"/>
                <a:cs typeface="Arial"/>
              </a:rPr>
              <a:t>et du bitume</a:t>
            </a:r>
          </a:p>
        </p:txBody>
      </p:sp>
      <p:sp>
        <p:nvSpPr>
          <p:cNvPr id="4" name="Comprendre le marché et préparer un budget">
            <a:extLst xmlns:a="http://schemas.openxmlformats.org/drawingml/2006/main">
              <a:ext uri="{FF2B5EF4-FFF2-40B4-BE49-F238E27FC236}">
                <a16:creationId xmlns:a16="http://schemas.microsoft.com/office/drawing/2014/main" id="{3734CE1B-CCA7-4255-BE3D-60A69F3950BD}"/>
              </a:ext>
            </a:extLst>
          </p:cNvPr>
          <p:cNvSpPr>
            <a:spLocks xmlns:a="http://schemas.openxmlformats.org/drawingml/2006/main" noGrp="1"/>
          </p:cNvSpPr>
          <p:nvPr/>
        </p:nvSpPr>
        <p:spPr>
          <a:xfrm xmlns:a="http://schemas.openxmlformats.org/drawingml/2006/main">
            <a:off x="723900" y="415290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C7D8E1"/>
                </a:solidFill>
                <a:latin typeface="Arial"/>
                <a:ea typeface="Arial"/>
                <a:cs typeface="Arial"/>
              </a:defRPr>
            </a:defPPr>
          </a:lstStyle>
          <a:p xmlns:a="http://schemas.openxmlformats.org/drawingml/2006/main">
            <a:pPr algn="l">
              <a:defRPr sz="1950" b="0">
                <a:solidFill>
                  <a:srgbClr val="C7D8E1"/>
                </a:solidFill>
                <a:latin typeface="Arial"/>
                <a:ea typeface="Arial"/>
                <a:cs typeface="Arial"/>
              </a:defRPr>
            </a:pPr>
            <a:r>
              <a:rPr sz="1950" b="0">
                <a:solidFill>
                  <a:srgbClr val="C7D8E1"/>
                </a:solidFill>
                <a:latin typeface="Arial"/>
                <a:ea typeface="Arial"/>
                <a:cs typeface="Arial"/>
              </a:rPr>
              <a:t>​Comprendre le marché et préparer un budget</a:t>
            </a:r>
          </a:p>
        </p:txBody>
      </p:sp>
    </p:spTree>
    <p:extLst>
      <p:ext uri="{BB962C8B-B14F-4D97-AF65-F5344CB8AC3E}">
        <p14:creationId xmlns:p14="http://schemas.microsoft.com/office/powerpoint/2010/main" val="2103795797"/>
      </p:ext>
    </p:extLst>
  </p:cSld>
</p:sld>
</file>

<file path=ppt/slides/slide2.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8" name="Besoin">
            <a:extLst xmlns:a="http://schemas.openxmlformats.org/drawingml/2006/main">
              <a:ext uri="{FF2B5EF4-FFF2-40B4-BE49-F238E27FC236}">
                <a16:creationId xmlns:a16="http://schemas.microsoft.com/office/drawing/2014/main" id="{D82599A3-9239-4858-B429-52F516A5F9E2}"/>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3C"/>
                </a:solidFill>
                <a:latin typeface="Arial"/>
                <a:ea typeface="Arial"/>
                <a:cs typeface="Arial"/>
              </a:defRPr>
            </a:defPPr>
          </a:lstStyle>
          <a:p xmlns:a="http://schemas.openxmlformats.org/drawingml/2006/main">
            <a:pPr algn="l">
              <a:defRPr sz="3300" b="1">
                <a:solidFill>
                  <a:srgbClr val="172D3C"/>
                </a:solidFill>
                <a:latin typeface="Arial"/>
                <a:ea typeface="Arial"/>
                <a:cs typeface="Arial"/>
              </a:defRPr>
            </a:pPr>
            <a:r>
              <a:rPr sz="3300" b="1">
                <a:solidFill>
                  <a:srgbClr val="172D3C"/>
                </a:solidFill>
                <a:latin typeface="Arial"/>
                <a:ea typeface="Arial"/>
                <a:cs typeface="Arial"/>
              </a:rPr>
              <a:t>​Besoin</a:t>
            </a:r>
          </a:p>
        </p:txBody>
      </p:sp>
      <p:sp>
        <p:nvSpPr>
          <p:cNvPr id="2" name="02">
            <a:extLst xmlns:a="http://schemas.openxmlformats.org/drawingml/2006/main">
              <a:ext uri="{FF2B5EF4-FFF2-40B4-BE49-F238E27FC236}">
                <a16:creationId xmlns:a16="http://schemas.microsoft.com/office/drawing/2014/main" id="{4D243A4D-5600-47F3-BB8F-1C1468D47F9A}"/>
              </a:ext>
            </a:extLst>
          </p:cNvPr>
          <p:cNvSpPr>
            <a:spLocks xmlns:a="http://schemas.openxmlformats.org/drawingml/2006/main" noGrp="1"/>
          </p:cNvSpPr>
          <p:nvPr/>
        </p:nvSpPr>
        <p:spPr>
          <a:xfrm xmlns:a="http://schemas.openxmlformats.org/drawingml/2006/main">
            <a:off x="110490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16573"/>
                </a:solidFill>
                <a:latin typeface="Arial"/>
                <a:ea typeface="Arial"/>
                <a:cs typeface="Arial"/>
              </a:defRPr>
            </a:defPPr>
          </a:lstStyle>
          <a:p xmlns:a="http://schemas.openxmlformats.org/drawingml/2006/main">
            <a:pPr algn="r">
              <a:defRPr sz="1200" b="0">
                <a:solidFill>
                  <a:srgbClr val="516573"/>
                </a:solidFill>
                <a:latin typeface="Arial"/>
                <a:ea typeface="Arial"/>
                <a:cs typeface="Arial"/>
              </a:defRPr>
            </a:pPr>
            <a:r>
              <a:rPr sz="1200" b="0">
                <a:solidFill>
                  <a:srgbClr val="516573"/>
                </a:solidFill>
                <a:latin typeface="Arial"/>
                <a:ea typeface="Arial"/>
                <a:cs typeface="Arial"/>
              </a:rPr>
              <a:t>​02</a:t>
            </a:r>
          </a:p>
        </p:txBody>
      </p:sp>
      <p:sp>
        <p:nvSpPr>
          <p:cNvPr id="3" name="Des informations dispersées">
            <a:extLst xmlns:a="http://schemas.openxmlformats.org/drawingml/2006/main">
              <a:ext uri="{FF2B5EF4-FFF2-40B4-BE49-F238E27FC236}">
                <a16:creationId xmlns:a16="http://schemas.microsoft.com/office/drawing/2014/main" id="{3C5C7D6B-73CD-4F38-B194-BE51C3CE8F6A}"/>
              </a:ext>
            </a:extLst>
          </p:cNvPr>
          <p:cNvSpPr>
            <a:spLocks xmlns:a="http://schemas.openxmlformats.org/drawingml/2006/main" noGrp="1"/>
          </p:cNvSpPr>
          <p:nvPr/>
        </p:nvSpPr>
        <p:spPr>
          <a:xfrm xmlns:a="http://schemas.openxmlformats.org/drawingml/2006/main">
            <a:off x="685800" y="190500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​Des informations dispersées</a:t>
            </a:r>
          </a:p>
        </p:txBody>
      </p:sp>
      <p:sp>
        <p:nvSpPr>
          <p:cNvPr id="4" name="Les fournisseurs de données publient à des da">
            <a:extLst xmlns:a="http://schemas.openxmlformats.org/drawingml/2006/main">
              <a:ext uri="{FF2B5EF4-FFF2-40B4-BE49-F238E27FC236}">
                <a16:creationId xmlns:a16="http://schemas.microsoft.com/office/drawing/2014/main" id="{45F0F666-411D-45EC-A00E-32868EC9A3D4}"/>
              </a:ext>
            </a:extLst>
          </p:cNvPr>
          <p:cNvSpPr>
            <a:spLocks xmlns:a="http://schemas.openxmlformats.org/drawingml/2006/main" noGrp="1"/>
          </p:cNvSpPr>
          <p:nvPr/>
        </p:nvSpPr>
        <p:spPr>
          <a:xfrm xmlns:a="http://schemas.openxmlformats.org/drawingml/2006/main">
            <a:off x="685800" y="2533650"/>
            <a:ext cx="571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73"/>
                </a:solidFill>
                <a:latin typeface="Arial"/>
                <a:ea typeface="Arial"/>
                <a:cs typeface="Arial"/>
              </a:defRPr>
            </a:defPPr>
          </a:lstStyle>
          <a:p xmlns:a="http://schemas.openxmlformats.org/drawingml/2006/main">
            <a:pPr algn="l">
              <a:defRPr sz="1950" b="0">
                <a:solidFill>
                  <a:srgbClr val="516573"/>
                </a:solidFill>
                <a:latin typeface="Arial"/>
                <a:ea typeface="Arial"/>
                <a:cs typeface="Arial"/>
              </a:defRPr>
            </a:pPr>
            <a:r>
              <a:rPr sz="1950" b="0">
                <a:solidFill>
                  <a:srgbClr val="516573"/>
                </a:solidFill>
                <a:latin typeface="Arial"/>
                <a:ea typeface="Arial"/>
                <a:cs typeface="Arial"/>
              </a:rPr>
              <a:t>​Les fournisseurs de données publient à des dates et à des fréquences différentes.</a:t>
            </a:r>
          </a:p>
        </p:txBody>
      </p:sp>
      <p:sp>
        <p:nvSpPr>
          <p:cNvPr id="5" name="Des comparaisons délicates">
            <a:extLst xmlns:a="http://schemas.openxmlformats.org/drawingml/2006/main">
              <a:ext uri="{FF2B5EF4-FFF2-40B4-BE49-F238E27FC236}">
                <a16:creationId xmlns:a16="http://schemas.microsoft.com/office/drawing/2014/main" id="{870E48A2-740A-4586-BE38-3085FAF903C5}"/>
              </a:ext>
            </a:extLst>
          </p:cNvPr>
          <p:cNvSpPr>
            <a:spLocks xmlns:a="http://schemas.openxmlformats.org/drawingml/2006/main" noGrp="1"/>
          </p:cNvSpPr>
          <p:nvPr/>
        </p:nvSpPr>
        <p:spPr>
          <a:xfrm xmlns:a="http://schemas.openxmlformats.org/drawingml/2006/main">
            <a:off x="685800" y="382905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​Des comparaisons délicates</a:t>
            </a:r>
          </a:p>
        </p:txBody>
      </p:sp>
      <p:sp>
        <p:nvSpPr>
          <p:cNvPr id="6" name="Un prix spot, un contrat à terme et un indice">
            <a:extLst xmlns:a="http://schemas.openxmlformats.org/drawingml/2006/main">
              <a:ext uri="{FF2B5EF4-FFF2-40B4-BE49-F238E27FC236}">
                <a16:creationId xmlns:a16="http://schemas.microsoft.com/office/drawing/2014/main" id="{B57F550D-158F-4841-9FD5-41B8696228BF}"/>
              </a:ext>
            </a:extLst>
          </p:cNvPr>
          <p:cNvSpPr>
            <a:spLocks xmlns:a="http://schemas.openxmlformats.org/drawingml/2006/main" noGrp="1"/>
          </p:cNvSpPr>
          <p:nvPr/>
        </p:nvSpPr>
        <p:spPr>
          <a:xfrm xmlns:a="http://schemas.openxmlformats.org/drawingml/2006/main">
            <a:off x="685800" y="4457700"/>
            <a:ext cx="5715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73"/>
                </a:solidFill>
                <a:latin typeface="Arial"/>
                <a:ea typeface="Arial"/>
                <a:cs typeface="Arial"/>
              </a:defRPr>
            </a:defPPr>
          </a:lstStyle>
          <a:p xmlns:a="http://schemas.openxmlformats.org/drawingml/2006/main">
            <a:pPr algn="l">
              <a:defRPr sz="1950" b="0">
                <a:solidFill>
                  <a:srgbClr val="516573"/>
                </a:solidFill>
                <a:latin typeface="Arial"/>
                <a:ea typeface="Arial"/>
                <a:cs typeface="Arial"/>
              </a:defRPr>
            </a:pPr>
            <a:r>
              <a:rPr sz="1950" b="0">
                <a:solidFill>
                  <a:srgbClr val="516573"/>
                </a:solidFill>
                <a:latin typeface="Arial"/>
                <a:ea typeface="Arial"/>
                <a:cs typeface="Arial"/>
              </a:rPr>
              <a:t>​Un prix spot, un contrat à terme et un indice ne représentent pas la même chose.</a:t>
            </a:r>
          </a:p>
        </p:txBody>
      </p:sp>
      <p:sp>
        <p:nvSpPr>
          <p:cNvPr id="7" name="Une vue commune&#10;pour suivre les prix&#10;et vérif">
            <a:extLst xmlns:a="http://schemas.openxmlformats.org/drawingml/2006/main">
              <a:ext uri="{FF2B5EF4-FFF2-40B4-BE49-F238E27FC236}">
                <a16:creationId xmlns:a16="http://schemas.microsoft.com/office/drawing/2014/main" id="{D8C688A7-9ABB-456A-A11E-21CCBD36CF12}"/>
              </a:ext>
            </a:extLst>
          </p:cNvPr>
          <p:cNvSpPr>
            <a:spLocks xmlns:a="http://schemas.openxmlformats.org/drawingml/2006/main" noGrp="1"/>
          </p:cNvSpPr>
          <p:nvPr/>
        </p:nvSpPr>
        <p:spPr>
          <a:xfrm xmlns:a="http://schemas.openxmlformats.org/drawingml/2006/main">
            <a:off x="7477125" y="2162175"/>
            <a:ext cx="381000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87F83"/>
                </a:solidFill>
                <a:latin typeface="Arial"/>
                <a:ea typeface="Arial"/>
                <a:cs typeface="Arial"/>
              </a:defRPr>
            </a:defPPr>
          </a:lstStyle>
          <a:p xmlns:a="http://schemas.openxmlformats.org/drawingml/2006/main">
            <a:pPr algn="l">
              <a:defRPr sz="3000" b="1">
                <a:solidFill>
                  <a:srgbClr val="087F83"/>
                </a:solidFill>
                <a:latin typeface="Arial"/>
                <a:ea typeface="Arial"/>
                <a:cs typeface="Arial"/>
              </a:defRPr>
            </a:pPr>
            <a:r>
              <a:rPr sz="3000" b="1">
                <a:solidFill>
                  <a:srgbClr val="087F83"/>
                </a:solidFill>
                <a:latin typeface="Arial"/>
                <a:ea typeface="Arial"/>
                <a:cs typeface="Arial"/>
              </a:rPr>
              <a:t>​Une vue commune</a:t>
            </a:r>
          </a:p>
          <a:p xmlns:a="http://schemas.openxmlformats.org/drawingml/2006/main">
            <a:pPr algn="l">
              <a:defRPr sz="3000" b="1">
                <a:solidFill>
                  <a:srgbClr val="087F83"/>
                </a:solidFill>
                <a:latin typeface="Arial"/>
                <a:ea typeface="Arial"/>
                <a:cs typeface="Arial"/>
              </a:defRPr>
            </a:pPr>
            <a:r>
              <a:rPr sz="3000" b="1">
                <a:solidFill>
                  <a:srgbClr val="087F83"/>
                </a:solidFill>
                <a:latin typeface="Arial"/>
                <a:ea typeface="Arial"/>
                <a:cs typeface="Arial"/>
              </a:rPr>
              <a:t>pour suivre les prix</a:t>
            </a:r>
          </a:p>
          <a:p xmlns:a="http://schemas.openxmlformats.org/drawingml/2006/main">
            <a:pPr algn="l">
              <a:defRPr sz="3000" b="1">
                <a:solidFill>
                  <a:srgbClr val="087F83"/>
                </a:solidFill>
                <a:latin typeface="Arial"/>
                <a:ea typeface="Arial"/>
                <a:cs typeface="Arial"/>
              </a:defRPr>
            </a:pPr>
            <a:r>
              <a:rPr sz="3000" b="1">
                <a:solidFill>
                  <a:srgbClr val="087F83"/>
                </a:solidFill>
                <a:latin typeface="Arial"/>
                <a:ea typeface="Arial"/>
                <a:cs typeface="Arial"/>
              </a:rPr>
              <a:t>et vérifier leur contexte</a:t>
            </a:r>
          </a:p>
        </p:txBody>
      </p:sp>
    </p:spTree>
    <p:extLst>
      <p:ext uri="{BB962C8B-B14F-4D97-AF65-F5344CB8AC3E}">
        <p14:creationId xmlns:p14="http://schemas.microsoft.com/office/powerpoint/2010/main" val="711461767"/>
      </p:ext>
    </p:extLst>
  </p:cSld>
</p:sld>
</file>

<file path=ppt/slides/slide3.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5" name="Produits et leurs données">
            <a:extLst xmlns:a="http://schemas.openxmlformats.org/drawingml/2006/main">
              <a:ext uri="{FF2B5EF4-FFF2-40B4-BE49-F238E27FC236}">
                <a16:creationId xmlns:a16="http://schemas.microsoft.com/office/drawing/2014/main" id="{43E26B75-73D7-4B02-9611-1E19F1569D3B}"/>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3C"/>
                </a:solidFill>
                <a:latin typeface="Arial"/>
                <a:ea typeface="Arial"/>
                <a:cs typeface="Arial"/>
              </a:defRPr>
            </a:defPPr>
          </a:lstStyle>
          <a:p xmlns:a="http://schemas.openxmlformats.org/drawingml/2006/main">
            <a:pPr algn="l">
              <a:defRPr sz="3300" b="1">
                <a:solidFill>
                  <a:srgbClr val="172D3C"/>
                </a:solidFill>
                <a:latin typeface="Arial"/>
                <a:ea typeface="Arial"/>
                <a:cs typeface="Arial"/>
              </a:defRPr>
            </a:pPr>
            <a:r>
              <a:rPr sz="3300" b="1">
                <a:solidFill>
                  <a:srgbClr val="172D3C"/>
                </a:solidFill>
                <a:latin typeface="Arial"/>
                <a:ea typeface="Arial"/>
                <a:cs typeface="Arial"/>
              </a:rPr>
              <a:t>​Produits et leurs données</a:t>
            </a:r>
          </a:p>
        </p:txBody>
      </p:sp>
      <p:sp>
        <p:nvSpPr>
          <p:cNvPr id="2" name="03">
            <a:extLst xmlns:a="http://schemas.openxmlformats.org/drawingml/2006/main">
              <a:ext uri="{FF2B5EF4-FFF2-40B4-BE49-F238E27FC236}">
                <a16:creationId xmlns:a16="http://schemas.microsoft.com/office/drawing/2014/main" id="{17EB2B69-E773-47E8-9114-EEA459AAA998}"/>
              </a:ext>
            </a:extLst>
          </p:cNvPr>
          <p:cNvSpPr>
            <a:spLocks xmlns:a="http://schemas.openxmlformats.org/drawingml/2006/main" noGrp="1"/>
          </p:cNvSpPr>
          <p:nvPr/>
        </p:nvSpPr>
        <p:spPr>
          <a:xfrm xmlns:a="http://schemas.openxmlformats.org/drawingml/2006/main">
            <a:off x="110490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16573"/>
                </a:solidFill>
                <a:latin typeface="Arial"/>
                <a:ea typeface="Arial"/>
                <a:cs typeface="Arial"/>
              </a:defRPr>
            </a:defPPr>
          </a:lstStyle>
          <a:p xmlns:a="http://schemas.openxmlformats.org/drawingml/2006/main">
            <a:pPr algn="r">
              <a:defRPr sz="1200" b="0">
                <a:solidFill>
                  <a:srgbClr val="516573"/>
                </a:solidFill>
                <a:latin typeface="Arial"/>
                <a:ea typeface="Arial"/>
                <a:cs typeface="Arial"/>
              </a:defRPr>
            </a:pPr>
            <a:r>
              <a:rPr sz="1200" b="0">
                <a:solidFill>
                  <a:srgbClr val="516573"/>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857B4F17-B2DE-4008-87EC-D0C07AE78BC0}"/>
              </a:ext>
            </a:extLst>
          </p:cNvPr>
          <p:cNvGraphicFramePr/>
          <p:nvPr/>
        </p:nvGraphicFramePr>
        <p:xfrm>
          <a:off xmlns:a="http://schemas.openxmlformats.org/drawingml/2006/main" x="685800" y="1809750"/>
          <a:ext xmlns:a="http://schemas.openxmlformats.org/drawingml/2006/main" cx="10820400" cy="3600450"/>
        </p:xfrm>
        <a:graphic xmlns:a="http://schemas.openxmlformats.org/drawingml/2006/main">
          <a:graphicData uri="http://schemas.openxmlformats.org/drawingml/2006/table">
            <a:tbl>
              <a:tblPr/>
              <a:tblGrid>
                <a:gridCol w="1952625"/>
                <a:gridCol w="2381250"/>
                <a:gridCol w="6486525"/>
              </a:tblGrid>
              <a:tr h="720090">
                <a:tc>
                  <a:txBody>
                    <a:bodyPr lIns="114300" tIns="114300" rIns="114300" bIns="114300"/>
                    <a:lstStyle/>
                    <a:p>
                      <a:r>
                        <a:rPr sz="1800" b="1">
                          <a:solidFill>
                            <a:srgbClr val="FFFFFF"/>
                          </a:solidFill>
                          <a:latin typeface="Arial"/>
                          <a:ea typeface="Arial"/>
                          <a:cs typeface="Arial"/>
                        </a:rPr>
                        <a:t>Donnée</a:t>
                      </a:r>
                    </a:p>
                  </a:txBody>
                  <a:tcPr marL="91440" marR="91440" marT="45720" marB="45720" anchor="ctr">
                    <a:solidFill>
                      <a:srgbClr val="102334"/>
                    </a:solidFill>
                  </a:tcPr>
                </a:tc>
                <a:tc>
                  <a:txBody>
                    <a:bodyPr lIns="114300" tIns="114300" rIns="114300" bIns="114300"/>
                    <a:lstStyle/>
                    <a:p>
                      <a:r>
                        <a:rPr sz="1800" b="1">
                          <a:solidFill>
                            <a:srgbClr val="FFFFFF"/>
                          </a:solidFill>
                          <a:latin typeface="Arial"/>
                          <a:ea typeface="Arial"/>
                          <a:cs typeface="Arial"/>
                        </a:rPr>
                        <a:t>Unité</a:t>
                      </a:r>
                    </a:p>
                  </a:txBody>
                  <a:tcPr marL="91440" marR="91440" marT="45720" marB="45720" anchor="ctr">
                    <a:solidFill>
                      <a:srgbClr val="102334"/>
                    </a:solidFill>
                  </a:tcPr>
                </a:tc>
                <a:tc>
                  <a:txBody>
                    <a:bodyPr lIns="114300" tIns="114300" rIns="114300" bIns="114300"/>
                    <a:lstStyle/>
                    <a:p>
                      <a:r>
                        <a:rPr sz="1800" b="1">
                          <a:solidFill>
                            <a:srgbClr val="FFFFFF"/>
                          </a:solidFill>
                          <a:latin typeface="Arial"/>
                          <a:ea typeface="Arial"/>
                          <a:cs typeface="Arial"/>
                        </a:rPr>
                        <a:t>Nature et usage</a:t>
                      </a:r>
                    </a:p>
                  </a:txBody>
                  <a:tcPr marL="91440" marR="91440" marT="45720" marB="45720" anchor="ctr">
                    <a:solidFill>
                      <a:srgbClr val="102334"/>
                    </a:solidFill>
                  </a:tcPr>
                </a:tc>
              </a:tr>
              <a:tr h="720090">
                <a:tc>
                  <a:txBody>
                    <a:bodyPr lIns="114300" tIns="114300" rIns="114300" bIns="114300"/>
                    <a:lstStyle/>
                    <a:p>
                      <a:r>
                        <a:rPr sz="1800" b="0">
                          <a:solidFill>
                            <a:srgbClr val="172D3C"/>
                          </a:solidFill>
                          <a:latin typeface="Arial"/>
                          <a:ea typeface="Arial"/>
                          <a:cs typeface="Arial"/>
                        </a:rPr>
                        <a:t>Brent</a:t>
                      </a:r>
                    </a:p>
                  </a:txBody>
                  <a:tcPr marL="91440" marR="91440" marT="45720" marB="45720" anchor="ctr">
                    <a:solidFill>
                      <a:srgbClr val="FFFFFF"/>
                    </a:solidFill>
                  </a:tcPr>
                </a:tc>
                <a:tc>
                  <a:txBody>
                    <a:bodyPr lIns="114300" tIns="114300" rIns="114300" bIns="114300"/>
                    <a:lstStyle/>
                    <a:p>
                      <a:r>
                        <a:rPr sz="1800" b="0">
                          <a:solidFill>
                            <a:srgbClr val="172D3C"/>
                          </a:solidFill>
                          <a:latin typeface="Arial"/>
                          <a:ea typeface="Arial"/>
                          <a:cs typeface="Arial"/>
                        </a:rPr>
                        <a:t>USD / baril</a:t>
                      </a:r>
                    </a:p>
                  </a:txBody>
                  <a:tcPr marL="91440" marR="91440" marT="45720" marB="45720" anchor="ctr">
                    <a:solidFill>
                      <a:srgbClr val="FFFFFF"/>
                    </a:solidFill>
                  </a:tcPr>
                </a:tc>
                <a:tc>
                  <a:txBody>
                    <a:bodyPr lIns="114300" tIns="114300" rIns="114300" bIns="114300"/>
                    <a:lstStyle/>
                    <a:p>
                      <a:r>
                        <a:rPr sz="1800" b="0">
                          <a:solidFill>
                            <a:srgbClr val="172D3C"/>
                          </a:solidFill>
                          <a:latin typeface="Arial"/>
                          <a:ea typeface="Arial"/>
                          <a:cs typeface="Arial"/>
                        </a:rPr>
                        <a:t>Spot historique et cotation à terme distincte</a:t>
                      </a:r>
                    </a:p>
                  </a:txBody>
                  <a:tcPr marL="91440" marR="91440" marT="45720" marB="45720" anchor="ctr">
                    <a:solidFill>
                      <a:srgbClr val="FFFFFF"/>
                    </a:solidFill>
                  </a:tcPr>
                </a:tc>
              </a:tr>
              <a:tr h="720090">
                <a:tc>
                  <a:txBody>
                    <a:bodyPr lIns="114300" tIns="114300" rIns="114300" bIns="114300"/>
                    <a:lstStyle/>
                    <a:p>
                      <a:r>
                        <a:rPr sz="1800" b="0">
                          <a:solidFill>
                            <a:srgbClr val="172D3C"/>
                          </a:solidFill>
                          <a:latin typeface="Arial"/>
                          <a:ea typeface="Arial"/>
                          <a:cs typeface="Arial"/>
                        </a:rPr>
                        <a:t>Gasoil</a:t>
                      </a:r>
                    </a:p>
                  </a:txBody>
                  <a:tcPr marL="91440" marR="91440" marT="45720" marB="45720" anchor="ctr">
                    <a:solidFill>
                      <a:srgbClr val="F4F7F8"/>
                    </a:solidFill>
                  </a:tcPr>
                </a:tc>
                <a:tc>
                  <a:txBody>
                    <a:bodyPr lIns="114300" tIns="114300" rIns="114300" bIns="114300"/>
                    <a:lstStyle/>
                    <a:p>
                      <a:r>
                        <a:rPr sz="1800" b="0">
                          <a:solidFill>
                            <a:srgbClr val="172D3C"/>
                          </a:solidFill>
                          <a:latin typeface="Arial"/>
                          <a:ea typeface="Arial"/>
                          <a:cs typeface="Arial"/>
                        </a:rPr>
                        <a:t>USD / gallon</a:t>
                      </a:r>
                    </a:p>
                  </a:txBody>
                  <a:tcPr marL="91440" marR="91440" marT="45720" marB="45720" anchor="ctr">
                    <a:solidFill>
                      <a:srgbClr val="F4F7F8"/>
                    </a:solidFill>
                  </a:tcPr>
                </a:tc>
                <a:tc>
                  <a:txBody>
                    <a:bodyPr lIns="114300" tIns="114300" rIns="114300" bIns="114300"/>
                    <a:lstStyle/>
                    <a:p>
                      <a:r>
                        <a:rPr sz="1800" b="0">
                          <a:solidFill>
                            <a:srgbClr val="172D3C"/>
                          </a:solidFill>
                          <a:latin typeface="Arial"/>
                          <a:ea typeface="Arial"/>
                          <a:cs typeface="Arial"/>
                        </a:rPr>
                        <a:t>Spot historique et proxy de marché distinct</a:t>
                      </a:r>
                    </a:p>
                  </a:txBody>
                  <a:tcPr marL="91440" marR="91440" marT="45720" marB="45720" anchor="ctr">
                    <a:solidFill>
                      <a:srgbClr val="F4F7F8"/>
                    </a:solidFill>
                  </a:tcPr>
                </a:tc>
              </a:tr>
              <a:tr h="720090">
                <a:tc>
                  <a:txBody>
                    <a:bodyPr lIns="114300" tIns="114300" rIns="114300" bIns="114300"/>
                    <a:lstStyle/>
                    <a:p>
                      <a:r>
                        <a:rPr sz="1800" b="0">
                          <a:solidFill>
                            <a:srgbClr val="172D3C"/>
                          </a:solidFill>
                          <a:latin typeface="Arial"/>
                          <a:ea typeface="Arial"/>
                          <a:cs typeface="Arial"/>
                        </a:rPr>
                        <a:t>Indice bitume</a:t>
                      </a:r>
                    </a:p>
                  </a:txBody>
                  <a:tcPr marL="91440" marR="91440" marT="45720" marB="45720" anchor="ctr">
                    <a:solidFill>
                      <a:srgbClr val="FFFFFF"/>
                    </a:solidFill>
                  </a:tcPr>
                </a:tc>
                <a:tc>
                  <a:txBody>
                    <a:bodyPr lIns="114300" tIns="114300" rIns="114300" bIns="114300"/>
                    <a:lstStyle/>
                    <a:p>
                      <a:r>
                        <a:rPr sz="1800" b="0">
                          <a:solidFill>
                            <a:srgbClr val="172D3C"/>
                          </a:solidFill>
                          <a:latin typeface="Arial"/>
                          <a:ea typeface="Arial"/>
                          <a:cs typeface="Arial"/>
                        </a:rPr>
                        <a:t>Déc. 1984 = 100</a:t>
                      </a:r>
                    </a:p>
                  </a:txBody>
                  <a:tcPr marL="91440" marR="91440" marT="45720" marB="45720" anchor="ctr">
                    <a:solidFill>
                      <a:srgbClr val="FFFFFF"/>
                    </a:solidFill>
                  </a:tcPr>
                </a:tc>
                <a:tc>
                  <a:txBody>
                    <a:bodyPr lIns="114300" tIns="114300" rIns="114300" bIns="114300"/>
                    <a:lstStyle/>
                    <a:p>
                      <a:r>
                        <a:rPr sz="1800" b="0">
                          <a:solidFill>
                            <a:srgbClr val="172D3C"/>
                          </a:solidFill>
                          <a:latin typeface="Arial"/>
                          <a:ea typeface="Arial"/>
                          <a:cs typeface="Arial"/>
                        </a:rPr>
                        <a:t>Tendance mensuelle américaine BLS WPU058</a:t>
                      </a:r>
                    </a:p>
                  </a:txBody>
                  <a:tcPr marL="91440" marR="91440" marT="45720" marB="45720" anchor="ctr">
                    <a:solidFill>
                      <a:srgbClr val="FFFFFF"/>
                    </a:solidFill>
                  </a:tcPr>
                </a:tc>
              </a:tr>
              <a:tr h="720090">
                <a:tc>
                  <a:txBody>
                    <a:bodyPr lIns="114300" tIns="114300" rIns="114300" bIns="114300"/>
                    <a:lstStyle/>
                    <a:p>
                      <a:r>
                        <a:rPr sz="1800" b="0">
                          <a:solidFill>
                            <a:srgbClr val="172D3C"/>
                          </a:solidFill>
                          <a:latin typeface="Arial"/>
                          <a:ea typeface="Arial"/>
                          <a:cs typeface="Arial"/>
                        </a:rPr>
                        <a:t>Devis bitume</a:t>
                      </a:r>
                    </a:p>
                  </a:txBody>
                  <a:tcPr marL="91440" marR="91440" marT="45720" marB="45720" anchor="ctr">
                    <a:solidFill>
                      <a:srgbClr val="F4F7F8"/>
                    </a:solidFill>
                  </a:tcPr>
                </a:tc>
                <a:tc>
                  <a:txBody>
                    <a:bodyPr lIns="114300" tIns="114300" rIns="114300" bIns="114300"/>
                    <a:lstStyle/>
                    <a:p>
                      <a:r>
                        <a:rPr sz="1800" b="0">
                          <a:solidFill>
                            <a:srgbClr val="172D3C"/>
                          </a:solidFill>
                          <a:latin typeface="Arial"/>
                          <a:ea typeface="Arial"/>
                          <a:cs typeface="Arial"/>
                        </a:rPr>
                        <a:t>USD / tonne</a:t>
                      </a:r>
                    </a:p>
                  </a:txBody>
                  <a:tcPr marL="91440" marR="91440" marT="45720" marB="45720" anchor="ctr">
                    <a:solidFill>
                      <a:srgbClr val="F4F7F8"/>
                    </a:solidFill>
                  </a:tcPr>
                </a:tc>
                <a:tc>
                  <a:txBody>
                    <a:bodyPr lIns="114300" tIns="114300" rIns="114300" bIns="114300"/>
                    <a:lstStyle/>
                    <a:p>
                      <a:r>
                        <a:rPr sz="1800" b="0">
                          <a:solidFill>
                            <a:srgbClr val="172D3C"/>
                          </a:solidFill>
                          <a:latin typeface="Arial"/>
                          <a:ea typeface="Arial"/>
                          <a:cs typeface="Arial"/>
                        </a:rPr>
                        <a:t>Prix fournisseur avec conditions d’achat</a:t>
                      </a:r>
                    </a:p>
                  </a:txBody>
                  <a:tcPr marL="91440" marR="91440" marT="45720" marB="45720" anchor="ctr">
                    <a:solidFill>
                      <a:srgbClr val="F4F7F8"/>
                    </a:solidFill>
                  </a:tcPr>
                </a:tc>
              </a:tr>
            </a:tbl>
          </a:graphicData>
        </a:graphic>
      </p:graphicFrame>
      <p:sp>
        <p:nvSpPr>
          <p:cNvPr id="4" name="La date, l’unité et le type de donnée accompa">
            <a:extLst xmlns:a="http://schemas.openxmlformats.org/drawingml/2006/main">
              <a:ext uri="{FF2B5EF4-FFF2-40B4-BE49-F238E27FC236}">
                <a16:creationId xmlns:a16="http://schemas.microsoft.com/office/drawing/2014/main" id="{97DB2398-170F-4EEC-97B4-DE355A34DDCF}"/>
              </a:ext>
            </a:extLst>
          </p:cNvPr>
          <p:cNvSpPr>
            <a:spLocks xmlns:a="http://schemas.openxmlformats.org/drawingml/2006/main" noGrp="1"/>
          </p:cNvSpPr>
          <p:nvPr/>
        </p:nvSpPr>
        <p:spPr>
          <a:xfrm xmlns:a="http://schemas.openxmlformats.org/drawingml/2006/main">
            <a:off x="685800" y="57245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3"/>
                </a:solidFill>
                <a:latin typeface="Arial"/>
                <a:ea typeface="Arial"/>
                <a:cs typeface="Arial"/>
              </a:defRPr>
            </a:defPPr>
          </a:lstStyle>
          <a:p xmlns:a="http://schemas.openxmlformats.org/drawingml/2006/main">
            <a:pPr algn="l">
              <a:defRPr sz="1950" b="1">
                <a:solidFill>
                  <a:srgbClr val="087F83"/>
                </a:solidFill>
                <a:latin typeface="Arial"/>
                <a:ea typeface="Arial"/>
                <a:cs typeface="Arial"/>
              </a:defRPr>
            </a:pPr>
            <a:r>
              <a:rPr sz="1950" b="1">
                <a:solidFill>
                  <a:srgbClr val="087F83"/>
                </a:solidFill>
                <a:latin typeface="Arial"/>
                <a:ea typeface="Arial"/>
                <a:cs typeface="Arial"/>
              </a:rPr>
              <a:t>​La date, l’unité et le type de donnée accompagnent chaque valeur.</a:t>
            </a:r>
          </a:p>
        </p:txBody>
      </p:sp>
    </p:spTree>
    <p:extLst>
      <p:ext uri="{BB962C8B-B14F-4D97-AF65-F5344CB8AC3E}">
        <p14:creationId xmlns:p14="http://schemas.microsoft.com/office/powerpoint/2010/main" val="1477299997"/>
      </p:ext>
    </p:extLst>
  </p:cSld>
</p:sld>
</file>

<file path=ppt/slides/slide4.xml><?xml version="1.0" encoding="utf-8"?>
<p:sld xmlns:p="http://schemas.openxmlformats.org/presentationml/2006/main">
  <p:cSld>
    <p:bg>
      <p:bgPr>
        <a:solidFill xmlns:a="http://schemas.openxmlformats.org/drawingml/2006/main">
          <a:srgbClr val="102334"/>
        </a:solidFill>
      </p:bgPr>
    </p:bg>
    <p:spTree>
      <p:nvGrpSpPr>
        <p:cNvPr id="1" name=""/>
        <p:cNvGrpSpPr/>
        <p:nvPr/>
      </p:nvGrpSpPr>
      <p:grpSpPr>
        <a:xfrm xmlns:a="http://schemas.openxmlformats.org/drawingml/2006/main"/>
      </p:grpSpPr>
      <p:sp>
        <p:nvSpPr>
          <p:cNvPr id="10" name="Solution proposée">
            <a:extLst xmlns:a="http://schemas.openxmlformats.org/drawingml/2006/main">
              <a:ext uri="{FF2B5EF4-FFF2-40B4-BE49-F238E27FC236}">
                <a16:creationId xmlns:a16="http://schemas.microsoft.com/office/drawing/2014/main" id="{7ACE4509-7838-47B5-BFC4-B35C9D3B56CE}"/>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​Solution proposée</a:t>
            </a:r>
          </a:p>
        </p:txBody>
      </p:sp>
      <p:sp>
        <p:nvSpPr>
          <p:cNvPr id="2" name="04">
            <a:extLst xmlns:a="http://schemas.openxmlformats.org/drawingml/2006/main">
              <a:ext uri="{FF2B5EF4-FFF2-40B4-BE49-F238E27FC236}">
                <a16:creationId xmlns:a16="http://schemas.microsoft.com/office/drawing/2014/main" id="{3ECA00B3-0BDD-478F-B086-B355CB916842}"/>
              </a:ext>
            </a:extLst>
          </p:cNvPr>
          <p:cNvSpPr>
            <a:spLocks xmlns:a="http://schemas.openxmlformats.org/drawingml/2006/main" noGrp="1"/>
          </p:cNvSpPr>
          <p:nvPr/>
        </p:nvSpPr>
        <p:spPr>
          <a:xfrm xmlns:a="http://schemas.openxmlformats.org/drawingml/2006/main">
            <a:off x="110490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C7D8E1"/>
                </a:solidFill>
                <a:latin typeface="Arial"/>
                <a:ea typeface="Arial"/>
                <a:cs typeface="Arial"/>
              </a:defRPr>
            </a:defPPr>
          </a:lstStyle>
          <a:p xmlns:a="http://schemas.openxmlformats.org/drawingml/2006/main">
            <a:pPr algn="r">
              <a:defRPr sz="1200" b="0">
                <a:solidFill>
                  <a:srgbClr val="C7D8E1"/>
                </a:solidFill>
                <a:latin typeface="Arial"/>
                <a:ea typeface="Arial"/>
                <a:cs typeface="Arial"/>
              </a:defRPr>
            </a:pPr>
            <a:r>
              <a:rPr sz="1200" b="0">
                <a:solidFill>
                  <a:srgbClr val="C7D8E1"/>
                </a:solidFill>
                <a:latin typeface="Arial"/>
                <a:ea typeface="Arial"/>
                <a:cs typeface="Arial"/>
              </a:rPr>
              <a:t>​04</a:t>
            </a:r>
          </a:p>
        </p:txBody>
      </p:sp>
      <p:sp>
        <p:nvSpPr>
          <p:cNvPr id="3" name="5 ans">
            <a:extLst xmlns:a="http://schemas.openxmlformats.org/drawingml/2006/main">
              <a:ext uri="{FF2B5EF4-FFF2-40B4-BE49-F238E27FC236}">
                <a16:creationId xmlns:a16="http://schemas.microsoft.com/office/drawing/2014/main" id="{0201A2AB-150E-4AE6-A452-A58D58E4F6A3}"/>
              </a:ext>
            </a:extLst>
          </p:cNvPr>
          <p:cNvSpPr>
            <a:spLocks xmlns:a="http://schemas.openxmlformats.org/drawingml/2006/main" noGrp="1"/>
          </p:cNvSpPr>
          <p:nvPr/>
        </p:nvSpPr>
        <p:spPr>
          <a:xfrm xmlns:a="http://schemas.openxmlformats.org/drawingml/2006/main">
            <a:off x="685800" y="21526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FFFFFF"/>
                </a:solidFill>
                <a:latin typeface="Arial"/>
                <a:ea typeface="Arial"/>
                <a:cs typeface="Arial"/>
              </a:defRPr>
            </a:defPPr>
          </a:lstStyle>
          <a:p xmlns:a="http://schemas.openxmlformats.org/drawingml/2006/main">
            <a:pPr algn="l">
              <a:defRPr sz="4950" b="1">
                <a:solidFill>
                  <a:srgbClr val="FFFFFF"/>
                </a:solidFill>
                <a:latin typeface="Arial"/>
                <a:ea typeface="Arial"/>
                <a:cs typeface="Arial"/>
              </a:defRPr>
            </a:pPr>
            <a:r>
              <a:rPr sz="4950" b="1">
                <a:solidFill>
                  <a:srgbClr val="FFFFFF"/>
                </a:solidFill>
                <a:latin typeface="Arial"/>
                <a:ea typeface="Arial"/>
                <a:cs typeface="Arial"/>
              </a:rPr>
              <a:t>​5 ans</a:t>
            </a:r>
          </a:p>
        </p:txBody>
      </p:sp>
      <p:sp>
        <p:nvSpPr>
          <p:cNvPr id="4" name="60 mois">
            <a:extLst xmlns:a="http://schemas.openxmlformats.org/drawingml/2006/main">
              <a:ext uri="{FF2B5EF4-FFF2-40B4-BE49-F238E27FC236}">
                <a16:creationId xmlns:a16="http://schemas.microsoft.com/office/drawing/2014/main" id="{B6365640-8E27-40B4-AFAA-BF30148B5CC3}"/>
              </a:ext>
            </a:extLst>
          </p:cNvPr>
          <p:cNvSpPr>
            <a:spLocks xmlns:a="http://schemas.openxmlformats.org/drawingml/2006/main" noGrp="1"/>
          </p:cNvSpPr>
          <p:nvPr/>
        </p:nvSpPr>
        <p:spPr>
          <a:xfrm xmlns:a="http://schemas.openxmlformats.org/drawingml/2006/main">
            <a:off x="4591050" y="21526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FFFFFF"/>
                </a:solidFill>
                <a:latin typeface="Arial"/>
                <a:ea typeface="Arial"/>
                <a:cs typeface="Arial"/>
              </a:defRPr>
            </a:defPPr>
          </a:lstStyle>
          <a:p xmlns:a="http://schemas.openxmlformats.org/drawingml/2006/main">
            <a:pPr algn="l">
              <a:defRPr sz="4950" b="1">
                <a:solidFill>
                  <a:srgbClr val="FFFFFF"/>
                </a:solidFill>
                <a:latin typeface="Arial"/>
                <a:ea typeface="Arial"/>
                <a:cs typeface="Arial"/>
              </a:defRPr>
            </a:pPr>
            <a:r>
              <a:rPr sz="4950" b="1">
                <a:solidFill>
                  <a:srgbClr val="FFFFFF"/>
                </a:solidFill>
                <a:latin typeface="Arial"/>
                <a:ea typeface="Arial"/>
                <a:cs typeface="Arial"/>
              </a:rPr>
              <a:t>​60 mois</a:t>
            </a:r>
          </a:p>
        </p:txBody>
      </p:sp>
      <p:sp>
        <p:nvSpPr>
          <p:cNvPr id="5" name="1 min">
            <a:extLst xmlns:a="http://schemas.openxmlformats.org/drawingml/2006/main">
              <a:ext uri="{FF2B5EF4-FFF2-40B4-BE49-F238E27FC236}">
                <a16:creationId xmlns:a16="http://schemas.microsoft.com/office/drawing/2014/main" id="{5A9C8B5E-3039-4EBC-9D28-AEB58A9F93C4}"/>
              </a:ext>
            </a:extLst>
          </p:cNvPr>
          <p:cNvSpPr>
            <a:spLocks xmlns:a="http://schemas.openxmlformats.org/drawingml/2006/main" noGrp="1"/>
          </p:cNvSpPr>
          <p:nvPr/>
        </p:nvSpPr>
        <p:spPr>
          <a:xfrm xmlns:a="http://schemas.openxmlformats.org/drawingml/2006/main">
            <a:off x="8496300" y="2152650"/>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FFFFFF"/>
                </a:solidFill>
                <a:latin typeface="Arial"/>
                <a:ea typeface="Arial"/>
                <a:cs typeface="Arial"/>
              </a:defRPr>
            </a:defPPr>
          </a:lstStyle>
          <a:p xmlns:a="http://schemas.openxmlformats.org/drawingml/2006/main">
            <a:pPr algn="l">
              <a:defRPr sz="4950" b="1">
                <a:solidFill>
                  <a:srgbClr val="FFFFFF"/>
                </a:solidFill>
                <a:latin typeface="Arial"/>
                <a:ea typeface="Arial"/>
                <a:cs typeface="Arial"/>
              </a:defRPr>
            </a:pPr>
            <a:r>
              <a:rPr sz="4950" b="1">
                <a:solidFill>
                  <a:srgbClr val="FFFFFF"/>
                </a:solidFill>
                <a:latin typeface="Arial"/>
                <a:ea typeface="Arial"/>
                <a:cs typeface="Arial"/>
              </a:rPr>
              <a:t>​1 min</a:t>
            </a:r>
          </a:p>
        </p:txBody>
      </p:sp>
      <p:sp>
        <p:nvSpPr>
          <p:cNvPr id="6" name="Historique Brent&#10;et gasoil">
            <a:extLst xmlns:a="http://schemas.openxmlformats.org/drawingml/2006/main">
              <a:ext uri="{FF2B5EF4-FFF2-40B4-BE49-F238E27FC236}">
                <a16:creationId xmlns:a16="http://schemas.microsoft.com/office/drawing/2014/main" id="{1B6B3AF6-8C03-436A-975C-44D18367804B}"/>
              </a:ext>
            </a:extLst>
          </p:cNvPr>
          <p:cNvSpPr>
            <a:spLocks xmlns:a="http://schemas.openxmlformats.org/drawingml/2006/main" noGrp="1"/>
          </p:cNvSpPr>
          <p:nvPr/>
        </p:nvSpPr>
        <p:spPr>
          <a:xfrm xmlns:a="http://schemas.openxmlformats.org/drawingml/2006/main">
            <a:off x="685800" y="3295650"/>
            <a:ext cx="300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C7D8E1"/>
                </a:solidFill>
                <a:latin typeface="Arial"/>
                <a:ea typeface="Arial"/>
                <a:cs typeface="Arial"/>
              </a:defRPr>
            </a:defPPr>
          </a:lstStyle>
          <a:p xmlns:a="http://schemas.openxmlformats.org/drawingml/2006/main">
            <a:pPr algn="l">
              <a:defRPr sz="2100" b="0">
                <a:solidFill>
                  <a:srgbClr val="C7D8E1"/>
                </a:solidFill>
                <a:latin typeface="Arial"/>
                <a:ea typeface="Arial"/>
                <a:cs typeface="Arial"/>
              </a:defRPr>
            </a:pPr>
            <a:r>
              <a:rPr sz="2100" b="0">
                <a:solidFill>
                  <a:srgbClr val="C7D8E1"/>
                </a:solidFill>
                <a:latin typeface="Arial"/>
                <a:ea typeface="Arial"/>
                <a:cs typeface="Arial"/>
              </a:rPr>
              <a:t>​Historique Brent</a:t>
            </a:r>
          </a:p>
          <a:p xmlns:a="http://schemas.openxmlformats.org/drawingml/2006/main">
            <a:pPr algn="l">
              <a:defRPr sz="2100" b="0">
                <a:solidFill>
                  <a:srgbClr val="C7D8E1"/>
                </a:solidFill>
                <a:latin typeface="Arial"/>
                <a:ea typeface="Arial"/>
                <a:cs typeface="Arial"/>
              </a:defRPr>
            </a:pPr>
            <a:r>
              <a:rPr sz="2100" b="0">
                <a:solidFill>
                  <a:srgbClr val="C7D8E1"/>
                </a:solidFill>
                <a:latin typeface="Arial"/>
                <a:ea typeface="Arial"/>
                <a:cs typeface="Arial"/>
              </a:rPr>
              <a:t>et gasoil</a:t>
            </a:r>
          </a:p>
        </p:txBody>
      </p:sp>
      <p:sp>
        <p:nvSpPr>
          <p:cNvPr id="7" name="Indice bitume&#10;mensuel">
            <a:extLst xmlns:a="http://schemas.openxmlformats.org/drawingml/2006/main">
              <a:ext uri="{FF2B5EF4-FFF2-40B4-BE49-F238E27FC236}">
                <a16:creationId xmlns:a16="http://schemas.microsoft.com/office/drawing/2014/main" id="{C05C2FBE-AB58-4D4A-91B2-97E3F0EC71E4}"/>
              </a:ext>
            </a:extLst>
          </p:cNvPr>
          <p:cNvSpPr>
            <a:spLocks xmlns:a="http://schemas.openxmlformats.org/drawingml/2006/main" noGrp="1"/>
          </p:cNvSpPr>
          <p:nvPr/>
        </p:nvSpPr>
        <p:spPr>
          <a:xfrm xmlns:a="http://schemas.openxmlformats.org/drawingml/2006/main">
            <a:off x="4591050" y="3295650"/>
            <a:ext cx="300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C7D8E1"/>
                </a:solidFill>
                <a:latin typeface="Arial"/>
                <a:ea typeface="Arial"/>
                <a:cs typeface="Arial"/>
              </a:defRPr>
            </a:defPPr>
          </a:lstStyle>
          <a:p xmlns:a="http://schemas.openxmlformats.org/drawingml/2006/main">
            <a:pPr algn="l">
              <a:defRPr sz="2100" b="0">
                <a:solidFill>
                  <a:srgbClr val="C7D8E1"/>
                </a:solidFill>
                <a:latin typeface="Arial"/>
                <a:ea typeface="Arial"/>
                <a:cs typeface="Arial"/>
              </a:defRPr>
            </a:pPr>
            <a:r>
              <a:rPr sz="2100" b="0">
                <a:solidFill>
                  <a:srgbClr val="C7D8E1"/>
                </a:solidFill>
                <a:latin typeface="Arial"/>
                <a:ea typeface="Arial"/>
                <a:cs typeface="Arial"/>
              </a:rPr>
              <a:t>​Indice bitume</a:t>
            </a:r>
          </a:p>
          <a:p xmlns:a="http://schemas.openxmlformats.org/drawingml/2006/main">
            <a:pPr algn="l">
              <a:defRPr sz="2100" b="0">
                <a:solidFill>
                  <a:srgbClr val="C7D8E1"/>
                </a:solidFill>
                <a:latin typeface="Arial"/>
                <a:ea typeface="Arial"/>
                <a:cs typeface="Arial"/>
              </a:defRPr>
            </a:pPr>
            <a:r>
              <a:rPr sz="2100" b="0">
                <a:solidFill>
                  <a:srgbClr val="C7D8E1"/>
                </a:solidFill>
                <a:latin typeface="Arial"/>
                <a:ea typeface="Arial"/>
                <a:cs typeface="Arial"/>
              </a:rPr>
              <a:t>mensuel</a:t>
            </a:r>
          </a:p>
        </p:txBody>
      </p:sp>
      <p:sp>
        <p:nvSpPr>
          <p:cNvPr id="8" name="Collecte et actualisation&#10;par défaut">
            <a:extLst xmlns:a="http://schemas.openxmlformats.org/drawingml/2006/main">
              <a:ext uri="{FF2B5EF4-FFF2-40B4-BE49-F238E27FC236}">
                <a16:creationId xmlns:a16="http://schemas.microsoft.com/office/drawing/2014/main" id="{DB416030-9DE1-4571-89B9-279B45CABBEE}"/>
              </a:ext>
            </a:extLst>
          </p:cNvPr>
          <p:cNvSpPr>
            <a:spLocks xmlns:a="http://schemas.openxmlformats.org/drawingml/2006/main" noGrp="1"/>
          </p:cNvSpPr>
          <p:nvPr/>
        </p:nvSpPr>
        <p:spPr>
          <a:xfrm xmlns:a="http://schemas.openxmlformats.org/drawingml/2006/main">
            <a:off x="8496300" y="3295650"/>
            <a:ext cx="300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C7D8E1"/>
                </a:solidFill>
                <a:latin typeface="Arial"/>
                <a:ea typeface="Arial"/>
                <a:cs typeface="Arial"/>
              </a:defRPr>
            </a:defPPr>
          </a:lstStyle>
          <a:p xmlns:a="http://schemas.openxmlformats.org/drawingml/2006/main">
            <a:pPr algn="l">
              <a:defRPr sz="2100" b="0">
                <a:solidFill>
                  <a:srgbClr val="C7D8E1"/>
                </a:solidFill>
                <a:latin typeface="Arial"/>
                <a:ea typeface="Arial"/>
                <a:cs typeface="Arial"/>
              </a:defRPr>
            </a:pPr>
            <a:r>
              <a:rPr sz="2100" b="0">
                <a:solidFill>
                  <a:srgbClr val="C7D8E1"/>
                </a:solidFill>
                <a:latin typeface="Arial"/>
                <a:ea typeface="Arial"/>
                <a:cs typeface="Arial"/>
              </a:rPr>
              <a:t>​Collecte et actualisation</a:t>
            </a:r>
          </a:p>
          <a:p xmlns:a="http://schemas.openxmlformats.org/drawingml/2006/main">
            <a:pPr algn="l">
              <a:defRPr sz="2100" b="0">
                <a:solidFill>
                  <a:srgbClr val="C7D8E1"/>
                </a:solidFill>
                <a:latin typeface="Arial"/>
                <a:ea typeface="Arial"/>
                <a:cs typeface="Arial"/>
              </a:defRPr>
            </a:pPr>
            <a:r>
              <a:rPr sz="2100" b="0">
                <a:solidFill>
                  <a:srgbClr val="C7D8E1"/>
                </a:solidFill>
                <a:latin typeface="Arial"/>
                <a:ea typeface="Arial"/>
                <a:cs typeface="Arial"/>
              </a:rPr>
              <a:t>par défaut</a:t>
            </a:r>
          </a:p>
        </p:txBody>
      </p:sp>
      <p:sp>
        <p:nvSpPr>
          <p:cNvPr id="9" name="Un tableau de bord pour consulter les tendanc">
            <a:extLst xmlns:a="http://schemas.openxmlformats.org/drawingml/2006/main">
              <a:ext uri="{FF2B5EF4-FFF2-40B4-BE49-F238E27FC236}">
                <a16:creationId xmlns:a16="http://schemas.microsoft.com/office/drawing/2014/main" id="{428903CC-251F-41F5-9229-F117B492574C}"/>
              </a:ext>
            </a:extLst>
          </p:cNvPr>
          <p:cNvSpPr>
            <a:spLocks xmlns:a="http://schemas.openxmlformats.org/drawingml/2006/main" noGrp="1"/>
          </p:cNvSpPr>
          <p:nvPr/>
        </p:nvSpPr>
        <p:spPr>
          <a:xfrm xmlns:a="http://schemas.openxmlformats.org/drawingml/2006/main">
            <a:off x="685800" y="5010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stStyle>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​Un tableau de bord pour consulter les tendances, les alertes,</a:t>
            </a:r>
          </a:p>
          <a:p xmlns:a="http://schemas.openxmlformats.org/drawingml/2006/main">
            <a:pPr algn="l">
              <a:defRPr sz="2250" b="0">
                <a:solidFill>
                  <a:srgbClr val="FFFFFF"/>
                </a:solidFill>
                <a:latin typeface="Arial"/>
                <a:ea typeface="Arial"/>
                <a:cs typeface="Arial"/>
              </a:defRPr>
            </a:pPr>
            <a:r>
              <a:rPr sz="2250" b="0">
                <a:solidFill>
                  <a:srgbClr val="FFFFFF"/>
                </a:solidFill>
                <a:latin typeface="Arial"/>
                <a:ea typeface="Arial"/>
                <a:cs typeface="Arial"/>
              </a:rPr>
              <a:t>les archives et les estimations d’achat.</a:t>
            </a:r>
          </a:p>
        </p:txBody>
      </p:sp>
    </p:spTree>
    <p:extLst>
      <p:ext uri="{BB962C8B-B14F-4D97-AF65-F5344CB8AC3E}">
        <p14:creationId xmlns:p14="http://schemas.microsoft.com/office/powerpoint/2010/main" val="1132617059"/>
      </p:ext>
    </p:extLst>
  </p:cSld>
</p:sld>
</file>

<file path=ppt/slides/slide5.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5" name="Cycle des données">
            <a:extLst xmlns:a="http://schemas.openxmlformats.org/drawingml/2006/main">
              <a:ext uri="{FF2B5EF4-FFF2-40B4-BE49-F238E27FC236}">
                <a16:creationId xmlns:a16="http://schemas.microsoft.com/office/drawing/2014/main" id="{229C231A-156D-4A76-B9B4-A413A01DE443}"/>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3C"/>
                </a:solidFill>
                <a:latin typeface="Arial"/>
                <a:ea typeface="Arial"/>
                <a:cs typeface="Arial"/>
              </a:defRPr>
            </a:defPPr>
          </a:lstStyle>
          <a:p xmlns:a="http://schemas.openxmlformats.org/drawingml/2006/main">
            <a:pPr algn="l">
              <a:defRPr sz="3300" b="1">
                <a:solidFill>
                  <a:srgbClr val="172D3C"/>
                </a:solidFill>
                <a:latin typeface="Arial"/>
                <a:ea typeface="Arial"/>
                <a:cs typeface="Arial"/>
              </a:defRPr>
            </a:pPr>
            <a:r>
              <a:rPr sz="3300" b="1">
                <a:solidFill>
                  <a:srgbClr val="172D3C"/>
                </a:solidFill>
                <a:latin typeface="Arial"/>
                <a:ea typeface="Arial"/>
                <a:cs typeface="Arial"/>
              </a:rPr>
              <a:t>​Cycle des données</a:t>
            </a:r>
          </a:p>
        </p:txBody>
      </p:sp>
      <p:sp>
        <p:nvSpPr>
          <p:cNvPr id="2" name="05">
            <a:extLst xmlns:a="http://schemas.openxmlformats.org/drawingml/2006/main">
              <a:ext uri="{FF2B5EF4-FFF2-40B4-BE49-F238E27FC236}">
                <a16:creationId xmlns:a16="http://schemas.microsoft.com/office/drawing/2014/main" id="{610162A5-D765-4886-8DF5-F02E0FE5B0B8}"/>
              </a:ext>
            </a:extLst>
          </p:cNvPr>
          <p:cNvSpPr>
            <a:spLocks xmlns:a="http://schemas.openxmlformats.org/drawingml/2006/main" noGrp="1"/>
          </p:cNvSpPr>
          <p:nvPr/>
        </p:nvSpPr>
        <p:spPr>
          <a:xfrm xmlns:a="http://schemas.openxmlformats.org/drawingml/2006/main">
            <a:off x="110490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16573"/>
                </a:solidFill>
                <a:latin typeface="Arial"/>
                <a:ea typeface="Arial"/>
                <a:cs typeface="Arial"/>
              </a:defRPr>
            </a:defPPr>
          </a:lstStyle>
          <a:p xmlns:a="http://schemas.openxmlformats.org/drawingml/2006/main">
            <a:pPr algn="r">
              <a:defRPr sz="1200" b="0">
                <a:solidFill>
                  <a:srgbClr val="516573"/>
                </a:solidFill>
                <a:latin typeface="Arial"/>
                <a:ea typeface="Arial"/>
                <a:cs typeface="Arial"/>
              </a:defRPr>
            </a:pPr>
            <a:r>
              <a:rPr sz="1200" b="0">
                <a:solidFill>
                  <a:srgbClr val="516573"/>
                </a:solidFill>
                <a:latin typeface="Arial"/>
                <a:ea typeface="Arial"/>
                <a:cs typeface="Arial"/>
              </a:rPr>
              <a:t>​05</a:t>
            </a:r>
          </a:p>
        </p:txBody>
      </p:sp>
      <p:sp>
        <p:nvSpPr>
          <p:cNvPr id="3" name="01">
            <a:extLst xmlns:a="http://schemas.openxmlformats.org/drawingml/2006/main">
              <a:ext uri="{FF2B5EF4-FFF2-40B4-BE49-F238E27FC236}">
                <a16:creationId xmlns:a16="http://schemas.microsoft.com/office/drawing/2014/main" id="{5EF437E0-B006-4554-81B6-1B804B27745B}"/>
              </a:ext>
            </a:extLst>
          </p:cNvPr>
          <p:cNvSpPr>
            <a:spLocks xmlns:a="http://schemas.openxmlformats.org/drawingml/2006/main" noGrp="1"/>
          </p:cNvSpPr>
          <p:nvPr/>
        </p:nvSpPr>
        <p:spPr>
          <a:xfrm xmlns:a="http://schemas.openxmlformats.org/drawingml/2006/main">
            <a:off x="685800" y="1952625"/>
            <a:ext cx="233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87F83"/>
                </a:solidFill>
                <a:latin typeface="Arial"/>
                <a:ea typeface="Arial"/>
                <a:cs typeface="Arial"/>
              </a:defRPr>
            </a:defPPr>
          </a:lstStyle>
          <a:p xmlns:a="http://schemas.openxmlformats.org/drawingml/2006/main">
            <a:pPr algn="l">
              <a:defRPr sz="3900" b="1">
                <a:solidFill>
                  <a:srgbClr val="087F83"/>
                </a:solidFill>
                <a:latin typeface="Arial"/>
                <a:ea typeface="Arial"/>
                <a:cs typeface="Arial"/>
              </a:defRPr>
            </a:pPr>
            <a:r>
              <a:rPr sz="3900" b="1">
                <a:solidFill>
                  <a:srgbClr val="087F83"/>
                </a:solidFill>
                <a:latin typeface="Arial"/>
                <a:ea typeface="Arial"/>
                <a:cs typeface="Arial"/>
              </a:rPr>
              <a:t>​01</a:t>
            </a:r>
          </a:p>
        </p:txBody>
      </p:sp>
      <p:sp>
        <p:nvSpPr>
          <p:cNvPr id="4" name="Collecte">
            <a:extLst xmlns:a="http://schemas.openxmlformats.org/drawingml/2006/main">
              <a:ext uri="{FF2B5EF4-FFF2-40B4-BE49-F238E27FC236}">
                <a16:creationId xmlns:a16="http://schemas.microsoft.com/office/drawing/2014/main" id="{52B491E2-2ECF-4A0A-BF33-1CCDBF963F1E}"/>
              </a:ext>
            </a:extLst>
          </p:cNvPr>
          <p:cNvSpPr>
            <a:spLocks xmlns:a="http://schemas.openxmlformats.org/drawingml/2006/main" noGrp="1"/>
          </p:cNvSpPr>
          <p:nvPr/>
        </p:nvSpPr>
        <p:spPr>
          <a:xfrm xmlns:a="http://schemas.openxmlformats.org/drawingml/2006/main">
            <a:off x="685800" y="2905125"/>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​Collecte</a:t>
            </a:r>
          </a:p>
        </p:txBody>
      </p:sp>
      <p:sp>
        <p:nvSpPr>
          <p:cNvPr id="5" name="API publiques&#10;Cotations de marché&#10;Saisie de d">
            <a:extLst xmlns:a="http://schemas.openxmlformats.org/drawingml/2006/main">
              <a:ext uri="{FF2B5EF4-FFF2-40B4-BE49-F238E27FC236}">
                <a16:creationId xmlns:a16="http://schemas.microsoft.com/office/drawing/2014/main" id="{25F0264D-9841-48F5-A167-980587E9B8EA}"/>
              </a:ext>
            </a:extLst>
          </p:cNvPr>
          <p:cNvSpPr>
            <a:spLocks xmlns:a="http://schemas.openxmlformats.org/drawingml/2006/main" noGrp="1"/>
          </p:cNvSpPr>
          <p:nvPr/>
        </p:nvSpPr>
        <p:spPr>
          <a:xfrm xmlns:a="http://schemas.openxmlformats.org/drawingml/2006/main">
            <a:off x="685800" y="3629025"/>
            <a:ext cx="2381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573"/>
                </a:solidFill>
                <a:latin typeface="Arial"/>
                <a:ea typeface="Arial"/>
                <a:cs typeface="Arial"/>
              </a:defRPr>
            </a:defPPr>
          </a:lstStyle>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​API publiques</a:t>
            </a:r>
          </a:p>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Cotations de marché</a:t>
            </a:r>
          </a:p>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Saisie de devis</a:t>
            </a:r>
          </a:p>
        </p:txBody>
      </p:sp>
      <p:sp>
        <p:nvSpPr>
          <p:cNvPr id="6" name="02">
            <a:extLst xmlns:a="http://schemas.openxmlformats.org/drawingml/2006/main">
              <a:ext uri="{FF2B5EF4-FFF2-40B4-BE49-F238E27FC236}">
                <a16:creationId xmlns:a16="http://schemas.microsoft.com/office/drawing/2014/main" id="{B2AFA36A-B6BB-4BF5-9479-7FBE876E2968}"/>
              </a:ext>
            </a:extLst>
          </p:cNvPr>
          <p:cNvSpPr>
            <a:spLocks xmlns:a="http://schemas.openxmlformats.org/drawingml/2006/main" noGrp="1"/>
          </p:cNvSpPr>
          <p:nvPr/>
        </p:nvSpPr>
        <p:spPr>
          <a:xfrm xmlns:a="http://schemas.openxmlformats.org/drawingml/2006/main">
            <a:off x="3448050" y="1952625"/>
            <a:ext cx="233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87F83"/>
                </a:solidFill>
                <a:latin typeface="Arial"/>
                <a:ea typeface="Arial"/>
                <a:cs typeface="Arial"/>
              </a:defRPr>
            </a:defPPr>
          </a:lstStyle>
          <a:p xmlns:a="http://schemas.openxmlformats.org/drawingml/2006/main">
            <a:pPr algn="l">
              <a:defRPr sz="3900" b="1">
                <a:solidFill>
                  <a:srgbClr val="087F83"/>
                </a:solidFill>
                <a:latin typeface="Arial"/>
                <a:ea typeface="Arial"/>
                <a:cs typeface="Arial"/>
              </a:defRPr>
            </a:pPr>
            <a:r>
              <a:rPr sz="3900" b="1">
                <a:solidFill>
                  <a:srgbClr val="087F83"/>
                </a:solidFill>
                <a:latin typeface="Arial"/>
                <a:ea typeface="Arial"/>
                <a:cs typeface="Arial"/>
              </a:rPr>
              <a:t>​02</a:t>
            </a:r>
          </a:p>
        </p:txBody>
      </p:sp>
      <p:sp>
        <p:nvSpPr>
          <p:cNvPr id="7" name="Validation">
            <a:extLst xmlns:a="http://schemas.openxmlformats.org/drawingml/2006/main">
              <a:ext uri="{FF2B5EF4-FFF2-40B4-BE49-F238E27FC236}">
                <a16:creationId xmlns:a16="http://schemas.microsoft.com/office/drawing/2014/main" id="{D5190A30-5AA0-4DA4-968D-64D7D5857028}"/>
              </a:ext>
            </a:extLst>
          </p:cNvPr>
          <p:cNvSpPr>
            <a:spLocks xmlns:a="http://schemas.openxmlformats.org/drawingml/2006/main" noGrp="1"/>
          </p:cNvSpPr>
          <p:nvPr/>
        </p:nvSpPr>
        <p:spPr>
          <a:xfrm xmlns:a="http://schemas.openxmlformats.org/drawingml/2006/main">
            <a:off x="3448050" y="2905125"/>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​Validation</a:t>
            </a:r>
          </a:p>
        </p:txBody>
      </p:sp>
      <p:sp>
        <p:nvSpPr>
          <p:cNvPr id="8" name="Dates et unités&#10;Valeurs valides&#10;Doublons cont">
            <a:extLst xmlns:a="http://schemas.openxmlformats.org/drawingml/2006/main">
              <a:ext uri="{FF2B5EF4-FFF2-40B4-BE49-F238E27FC236}">
                <a16:creationId xmlns:a16="http://schemas.microsoft.com/office/drawing/2014/main" id="{81722D69-8B1D-4DB3-9EEA-1DDE41033503}"/>
              </a:ext>
            </a:extLst>
          </p:cNvPr>
          <p:cNvSpPr>
            <a:spLocks xmlns:a="http://schemas.openxmlformats.org/drawingml/2006/main" noGrp="1"/>
          </p:cNvSpPr>
          <p:nvPr/>
        </p:nvSpPr>
        <p:spPr>
          <a:xfrm xmlns:a="http://schemas.openxmlformats.org/drawingml/2006/main">
            <a:off x="3448050" y="3629025"/>
            <a:ext cx="2381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573"/>
                </a:solidFill>
                <a:latin typeface="Arial"/>
                <a:ea typeface="Arial"/>
                <a:cs typeface="Arial"/>
              </a:defRPr>
            </a:defPPr>
          </a:lstStyle>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​Dates et unités</a:t>
            </a:r>
          </a:p>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Valeurs valides</a:t>
            </a:r>
          </a:p>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Doublons contrôlés</a:t>
            </a:r>
          </a:p>
        </p:txBody>
      </p:sp>
      <p:sp>
        <p:nvSpPr>
          <p:cNvPr id="9" name="03">
            <a:extLst xmlns:a="http://schemas.openxmlformats.org/drawingml/2006/main">
              <a:ext uri="{FF2B5EF4-FFF2-40B4-BE49-F238E27FC236}">
                <a16:creationId xmlns:a16="http://schemas.microsoft.com/office/drawing/2014/main" id="{7DBA8E0F-084E-49CD-BAA3-43FA15801505}"/>
              </a:ext>
            </a:extLst>
          </p:cNvPr>
          <p:cNvSpPr>
            <a:spLocks xmlns:a="http://schemas.openxmlformats.org/drawingml/2006/main" noGrp="1"/>
          </p:cNvSpPr>
          <p:nvPr/>
        </p:nvSpPr>
        <p:spPr>
          <a:xfrm xmlns:a="http://schemas.openxmlformats.org/drawingml/2006/main">
            <a:off x="6210300" y="1952625"/>
            <a:ext cx="233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87F83"/>
                </a:solidFill>
                <a:latin typeface="Arial"/>
                <a:ea typeface="Arial"/>
                <a:cs typeface="Arial"/>
              </a:defRPr>
            </a:defPPr>
          </a:lstStyle>
          <a:p xmlns:a="http://schemas.openxmlformats.org/drawingml/2006/main">
            <a:pPr algn="l">
              <a:defRPr sz="3900" b="1">
                <a:solidFill>
                  <a:srgbClr val="087F83"/>
                </a:solidFill>
                <a:latin typeface="Arial"/>
                <a:ea typeface="Arial"/>
                <a:cs typeface="Arial"/>
              </a:defRPr>
            </a:pPr>
            <a:r>
              <a:rPr sz="3900" b="1">
                <a:solidFill>
                  <a:srgbClr val="087F83"/>
                </a:solidFill>
                <a:latin typeface="Arial"/>
                <a:ea typeface="Arial"/>
                <a:cs typeface="Arial"/>
              </a:rPr>
              <a:t>​03</a:t>
            </a:r>
          </a:p>
        </p:txBody>
      </p:sp>
      <p:sp>
        <p:nvSpPr>
          <p:cNvPr id="10" name="Stockage">
            <a:extLst xmlns:a="http://schemas.openxmlformats.org/drawingml/2006/main">
              <a:ext uri="{FF2B5EF4-FFF2-40B4-BE49-F238E27FC236}">
                <a16:creationId xmlns:a16="http://schemas.microsoft.com/office/drawing/2014/main" id="{4F5BF101-734F-4713-9D20-19DAF8A59EED}"/>
              </a:ext>
            </a:extLst>
          </p:cNvPr>
          <p:cNvSpPr>
            <a:spLocks xmlns:a="http://schemas.openxmlformats.org/drawingml/2006/main" noGrp="1"/>
          </p:cNvSpPr>
          <p:nvPr/>
        </p:nvSpPr>
        <p:spPr>
          <a:xfrm xmlns:a="http://schemas.openxmlformats.org/drawingml/2006/main">
            <a:off x="6210300" y="2905125"/>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​Stockage</a:t>
            </a:r>
          </a:p>
        </p:txBody>
      </p:sp>
      <p:sp>
        <p:nvSpPr>
          <p:cNvPr id="11" name="SQLite ou MySQL&#10;Source conservée&#10;Journal de c">
            <a:extLst xmlns:a="http://schemas.openxmlformats.org/drawingml/2006/main">
              <a:ext uri="{FF2B5EF4-FFF2-40B4-BE49-F238E27FC236}">
                <a16:creationId xmlns:a16="http://schemas.microsoft.com/office/drawing/2014/main" id="{8DCBAB68-2B91-4DF8-990C-1C600DF75247}"/>
              </a:ext>
            </a:extLst>
          </p:cNvPr>
          <p:cNvSpPr>
            <a:spLocks xmlns:a="http://schemas.openxmlformats.org/drawingml/2006/main" noGrp="1"/>
          </p:cNvSpPr>
          <p:nvPr/>
        </p:nvSpPr>
        <p:spPr>
          <a:xfrm xmlns:a="http://schemas.openxmlformats.org/drawingml/2006/main">
            <a:off x="6210300" y="3629025"/>
            <a:ext cx="2381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573"/>
                </a:solidFill>
                <a:latin typeface="Arial"/>
                <a:ea typeface="Arial"/>
                <a:cs typeface="Arial"/>
              </a:defRPr>
            </a:defPPr>
          </a:lstStyle>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​SQLite ou MySQL</a:t>
            </a:r>
          </a:p>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Source conservée</a:t>
            </a:r>
          </a:p>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Journal de collecte</a:t>
            </a:r>
          </a:p>
        </p:txBody>
      </p:sp>
      <p:sp>
        <p:nvSpPr>
          <p:cNvPr id="12" name="04">
            <a:extLst xmlns:a="http://schemas.openxmlformats.org/drawingml/2006/main">
              <a:ext uri="{FF2B5EF4-FFF2-40B4-BE49-F238E27FC236}">
                <a16:creationId xmlns:a16="http://schemas.microsoft.com/office/drawing/2014/main" id="{8F7467AD-A074-42E6-9D1E-A6D3B82A7395}"/>
              </a:ext>
            </a:extLst>
          </p:cNvPr>
          <p:cNvSpPr>
            <a:spLocks xmlns:a="http://schemas.openxmlformats.org/drawingml/2006/main" noGrp="1"/>
          </p:cNvSpPr>
          <p:nvPr/>
        </p:nvSpPr>
        <p:spPr>
          <a:xfrm xmlns:a="http://schemas.openxmlformats.org/drawingml/2006/main">
            <a:off x="8972550" y="1952625"/>
            <a:ext cx="23336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087F83"/>
                </a:solidFill>
                <a:latin typeface="Arial"/>
                <a:ea typeface="Arial"/>
                <a:cs typeface="Arial"/>
              </a:defRPr>
            </a:defPPr>
          </a:lstStyle>
          <a:p xmlns:a="http://schemas.openxmlformats.org/drawingml/2006/main">
            <a:pPr algn="l">
              <a:defRPr sz="3900" b="1">
                <a:solidFill>
                  <a:srgbClr val="087F83"/>
                </a:solidFill>
                <a:latin typeface="Arial"/>
                <a:ea typeface="Arial"/>
                <a:cs typeface="Arial"/>
              </a:defRPr>
            </a:pPr>
            <a:r>
              <a:rPr sz="3900" b="1">
                <a:solidFill>
                  <a:srgbClr val="087F83"/>
                </a:solidFill>
                <a:latin typeface="Arial"/>
                <a:ea typeface="Arial"/>
                <a:cs typeface="Arial"/>
              </a:rPr>
              <a:t>​04</a:t>
            </a:r>
          </a:p>
        </p:txBody>
      </p:sp>
      <p:sp>
        <p:nvSpPr>
          <p:cNvPr id="13" name="Restitution">
            <a:extLst xmlns:a="http://schemas.openxmlformats.org/drawingml/2006/main">
              <a:ext uri="{FF2B5EF4-FFF2-40B4-BE49-F238E27FC236}">
                <a16:creationId xmlns:a16="http://schemas.microsoft.com/office/drawing/2014/main" id="{6F25309A-7BC6-4552-9E8C-0AEBDD07B830}"/>
              </a:ext>
            </a:extLst>
          </p:cNvPr>
          <p:cNvSpPr>
            <a:spLocks xmlns:a="http://schemas.openxmlformats.org/drawingml/2006/main" noGrp="1"/>
          </p:cNvSpPr>
          <p:nvPr/>
        </p:nvSpPr>
        <p:spPr>
          <a:xfrm xmlns:a="http://schemas.openxmlformats.org/drawingml/2006/main">
            <a:off x="8972550" y="2905125"/>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​Restitution</a:t>
            </a:r>
          </a:p>
        </p:txBody>
      </p:sp>
      <p:sp>
        <p:nvSpPr>
          <p:cNvPr id="14" name="Tableau de bord&#10;Alertes et prévisions&#10;Exports">
            <a:extLst xmlns:a="http://schemas.openxmlformats.org/drawingml/2006/main">
              <a:ext uri="{FF2B5EF4-FFF2-40B4-BE49-F238E27FC236}">
                <a16:creationId xmlns:a16="http://schemas.microsoft.com/office/drawing/2014/main" id="{D1E9B32C-033D-48C3-8CCA-E1940ECF9110}"/>
              </a:ext>
            </a:extLst>
          </p:cNvPr>
          <p:cNvSpPr>
            <a:spLocks xmlns:a="http://schemas.openxmlformats.org/drawingml/2006/main" noGrp="1"/>
          </p:cNvSpPr>
          <p:nvPr/>
        </p:nvSpPr>
        <p:spPr>
          <a:xfrm xmlns:a="http://schemas.openxmlformats.org/drawingml/2006/main">
            <a:off x="8972550" y="3629025"/>
            <a:ext cx="238125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573"/>
                </a:solidFill>
                <a:latin typeface="Arial"/>
                <a:ea typeface="Arial"/>
                <a:cs typeface="Arial"/>
              </a:defRPr>
            </a:defPPr>
          </a:lstStyle>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​Tableau de bord</a:t>
            </a:r>
          </a:p>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Alertes et prévisions</a:t>
            </a:r>
          </a:p>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Exports CSV / Excel</a:t>
            </a:r>
          </a:p>
        </p:txBody>
      </p:sp>
    </p:spTree>
    <p:extLst>
      <p:ext uri="{BB962C8B-B14F-4D97-AF65-F5344CB8AC3E}">
        <p14:creationId xmlns:p14="http://schemas.microsoft.com/office/powerpoint/2010/main" val="175624483"/>
      </p:ext>
    </p:extLst>
  </p:cSld>
</p:sld>
</file>

<file path=ppt/slides/slide6.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4" name="Architecture du projet">
            <a:extLst xmlns:a="http://schemas.openxmlformats.org/drawingml/2006/main">
              <a:ext uri="{FF2B5EF4-FFF2-40B4-BE49-F238E27FC236}">
                <a16:creationId xmlns:a16="http://schemas.microsoft.com/office/drawing/2014/main" id="{E3D2BFC2-A64A-4DB2-AEBC-C6BD98E7B5CB}"/>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3C"/>
                </a:solidFill>
                <a:latin typeface="Arial"/>
                <a:ea typeface="Arial"/>
                <a:cs typeface="Arial"/>
              </a:defRPr>
            </a:defPPr>
          </a:lstStyle>
          <a:p xmlns:a="http://schemas.openxmlformats.org/drawingml/2006/main">
            <a:pPr algn="l">
              <a:defRPr sz="3300" b="1">
                <a:solidFill>
                  <a:srgbClr val="172D3C"/>
                </a:solidFill>
                <a:latin typeface="Arial"/>
                <a:ea typeface="Arial"/>
                <a:cs typeface="Arial"/>
              </a:defRPr>
            </a:pPr>
            <a:r>
              <a:rPr sz="3300" b="1">
                <a:solidFill>
                  <a:srgbClr val="172D3C"/>
                </a:solidFill>
                <a:latin typeface="Arial"/>
                <a:ea typeface="Arial"/>
                <a:cs typeface="Arial"/>
              </a:rPr>
              <a:t>​Architecture du projet</a:t>
            </a:r>
          </a:p>
        </p:txBody>
      </p:sp>
      <p:sp>
        <p:nvSpPr>
          <p:cNvPr id="2" name="06">
            <a:extLst xmlns:a="http://schemas.openxmlformats.org/drawingml/2006/main">
              <a:ext uri="{FF2B5EF4-FFF2-40B4-BE49-F238E27FC236}">
                <a16:creationId xmlns:a16="http://schemas.microsoft.com/office/drawing/2014/main" id="{EBEE5989-70AD-4A6E-8E01-88C741157345}"/>
              </a:ext>
            </a:extLst>
          </p:cNvPr>
          <p:cNvSpPr>
            <a:spLocks xmlns:a="http://schemas.openxmlformats.org/drawingml/2006/main" noGrp="1"/>
          </p:cNvSpPr>
          <p:nvPr/>
        </p:nvSpPr>
        <p:spPr>
          <a:xfrm xmlns:a="http://schemas.openxmlformats.org/drawingml/2006/main">
            <a:off x="110490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16573"/>
                </a:solidFill>
                <a:latin typeface="Arial"/>
                <a:ea typeface="Arial"/>
                <a:cs typeface="Arial"/>
              </a:defRPr>
            </a:defPPr>
          </a:lstStyle>
          <a:p xmlns:a="http://schemas.openxmlformats.org/drawingml/2006/main">
            <a:pPr algn="r">
              <a:defRPr sz="1200" b="0">
                <a:solidFill>
                  <a:srgbClr val="516573"/>
                </a:solidFill>
                <a:latin typeface="Arial"/>
                <a:ea typeface="Arial"/>
                <a:cs typeface="Arial"/>
              </a:defRPr>
            </a:pPr>
            <a:r>
              <a:rPr sz="1200" b="0">
                <a:solidFill>
                  <a:srgbClr val="516573"/>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6AA00157-FDC7-4B18-AE51-9D1E12C5EBC8}"/>
              </a:ext>
            </a:extLst>
          </p:cNvPr>
          <p:cNvGraphicFramePr/>
          <p:nvPr/>
        </p:nvGraphicFramePr>
        <p:xfrm>
          <a:off xmlns:a="http://schemas.openxmlformats.org/drawingml/2006/main" x="685800" y="1790700"/>
          <a:ext xmlns:a="http://schemas.openxmlformats.org/drawingml/2006/main" cx="10820400" cy="4114800"/>
        </p:xfrm>
        <a:graphic xmlns:a="http://schemas.openxmlformats.org/drawingml/2006/main">
          <a:graphicData uri="http://schemas.openxmlformats.org/drawingml/2006/table">
            <a:tbl>
              <a:tblPr/>
              <a:tblGrid>
                <a:gridCol w="2095500"/>
                <a:gridCol w="4095750"/>
                <a:gridCol w="4629150"/>
              </a:tblGrid>
              <a:tr h="685800">
                <a:tc>
                  <a:txBody>
                    <a:bodyPr lIns="114300" tIns="114300" rIns="114300" bIns="114300"/>
                    <a:lstStyle/>
                    <a:p>
                      <a:r>
                        <a:rPr sz="1725" b="1">
                          <a:solidFill>
                            <a:srgbClr val="FFFFFF"/>
                          </a:solidFill>
                          <a:latin typeface="Arial"/>
                          <a:ea typeface="Arial"/>
                          <a:cs typeface="Arial"/>
                        </a:rPr>
                        <a:t>Composant</a:t>
                      </a:r>
                    </a:p>
                  </a:txBody>
                  <a:tcPr marL="91440" marR="91440" marT="45720" marB="45720" anchor="ctr">
                    <a:solidFill>
                      <a:srgbClr val="102334"/>
                    </a:solidFill>
                  </a:tcPr>
                </a:tc>
                <a:tc>
                  <a:txBody>
                    <a:bodyPr lIns="114300" tIns="114300" rIns="114300" bIns="114300"/>
                    <a:lstStyle/>
                    <a:p>
                      <a:r>
                        <a:rPr sz="1725" b="1">
                          <a:solidFill>
                            <a:srgbClr val="FFFFFF"/>
                          </a:solidFill>
                          <a:latin typeface="Arial"/>
                          <a:ea typeface="Arial"/>
                          <a:cs typeface="Arial"/>
                        </a:rPr>
                        <a:t>Technologies</a:t>
                      </a:r>
                    </a:p>
                  </a:txBody>
                  <a:tcPr marL="91440" marR="91440" marT="45720" marB="45720" anchor="ctr">
                    <a:solidFill>
                      <a:srgbClr val="102334"/>
                    </a:solidFill>
                  </a:tcPr>
                </a:tc>
                <a:tc>
                  <a:txBody>
                    <a:bodyPr lIns="114300" tIns="114300" rIns="114300" bIns="114300"/>
                    <a:lstStyle/>
                    <a:p>
                      <a:r>
                        <a:rPr sz="1725" b="1">
                          <a:solidFill>
                            <a:srgbClr val="FFFFFF"/>
                          </a:solidFill>
                          <a:latin typeface="Arial"/>
                          <a:ea typeface="Arial"/>
                          <a:cs typeface="Arial"/>
                        </a:rPr>
                        <a:t>Rôle</a:t>
                      </a:r>
                    </a:p>
                  </a:txBody>
                  <a:tcPr marL="91440" marR="91440" marT="45720" marB="45720" anchor="ctr">
                    <a:solidFill>
                      <a:srgbClr val="102334"/>
                    </a:solidFill>
                  </a:tcPr>
                </a:tc>
              </a:tr>
              <a:tr h="685800">
                <a:tc>
                  <a:txBody>
                    <a:bodyPr lIns="114300" tIns="114300" rIns="114300" bIns="114300"/>
                    <a:lstStyle/>
                    <a:p>
                      <a:r>
                        <a:rPr sz="1725" b="0">
                          <a:solidFill>
                            <a:srgbClr val="172D3C"/>
                          </a:solidFill>
                          <a:latin typeface="Arial"/>
                          <a:ea typeface="Arial"/>
                          <a:cs typeface="Arial"/>
                        </a:rPr>
                        <a:t>Interface</a:t>
                      </a:r>
                    </a:p>
                  </a:txBody>
                  <a:tcPr marL="91440" marR="91440" marT="45720" marB="45720" anchor="ctr">
                    <a:solidFill>
                      <a:srgbClr val="FFFFFF"/>
                    </a:solidFill>
                  </a:tcPr>
                </a:tc>
                <a:tc>
                  <a:txBody>
                    <a:bodyPr lIns="114300" tIns="114300" rIns="114300" bIns="114300"/>
                    <a:lstStyle/>
                    <a:p>
                      <a:r>
                        <a:rPr sz="1725" b="0">
                          <a:solidFill>
                            <a:srgbClr val="172D3C"/>
                          </a:solidFill>
                          <a:latin typeface="Arial"/>
                          <a:ea typeface="Arial"/>
                          <a:cs typeface="Arial"/>
                        </a:rPr>
                        <a:t>HTML, CSS, JavaScript, Chart.js</a:t>
                      </a:r>
                    </a:p>
                  </a:txBody>
                  <a:tcPr marL="91440" marR="91440" marT="45720" marB="45720" anchor="ctr">
                    <a:solidFill>
                      <a:srgbClr val="FFFFFF"/>
                    </a:solidFill>
                  </a:tcPr>
                </a:tc>
                <a:tc>
                  <a:txBody>
                    <a:bodyPr lIns="114300" tIns="114300" rIns="114300" bIns="114300"/>
                    <a:lstStyle/>
                    <a:p>
                      <a:r>
                        <a:rPr sz="1725" b="0">
                          <a:solidFill>
                            <a:srgbClr val="172D3C"/>
                          </a:solidFill>
                          <a:latin typeface="Arial"/>
                          <a:ea typeface="Arial"/>
                          <a:cs typeface="Arial"/>
                        </a:rPr>
                        <a:t>Afficher et explorer les données</a:t>
                      </a:r>
                    </a:p>
                  </a:txBody>
                  <a:tcPr marL="91440" marR="91440" marT="45720" marB="45720" anchor="ctr">
                    <a:solidFill>
                      <a:srgbClr val="FFFFFF"/>
                    </a:solidFill>
                  </a:tcPr>
                </a:tc>
              </a:tr>
              <a:tr h="685800">
                <a:tc>
                  <a:txBody>
                    <a:bodyPr lIns="114300" tIns="114300" rIns="114300" bIns="114300"/>
                    <a:lstStyle/>
                    <a:p>
                      <a:r>
                        <a:rPr sz="1725" b="0">
                          <a:solidFill>
                            <a:srgbClr val="172D3C"/>
                          </a:solidFill>
                          <a:latin typeface="Arial"/>
                          <a:ea typeface="Arial"/>
                          <a:cs typeface="Arial"/>
                        </a:rPr>
                        <a:t>Serveur</a:t>
                      </a:r>
                    </a:p>
                  </a:txBody>
                  <a:tcPr marL="91440" marR="91440" marT="45720" marB="45720" anchor="ctr">
                    <a:solidFill>
                      <a:srgbClr val="F4F7F8"/>
                    </a:solidFill>
                  </a:tcPr>
                </a:tc>
                <a:tc>
                  <a:txBody>
                    <a:bodyPr lIns="114300" tIns="114300" rIns="114300" bIns="114300"/>
                    <a:lstStyle/>
                    <a:p>
                      <a:r>
                        <a:rPr sz="1725" b="0">
                          <a:solidFill>
                            <a:srgbClr val="172D3C"/>
                          </a:solidFill>
                          <a:latin typeface="Arial"/>
                          <a:ea typeface="Arial"/>
                          <a:cs typeface="Arial"/>
                        </a:rPr>
                        <a:t>Python, API HTTP / JSON</a:t>
                      </a:r>
                    </a:p>
                  </a:txBody>
                  <a:tcPr marL="91440" marR="91440" marT="45720" marB="45720" anchor="ctr">
                    <a:solidFill>
                      <a:srgbClr val="F4F7F8"/>
                    </a:solidFill>
                  </a:tcPr>
                </a:tc>
                <a:tc>
                  <a:txBody>
                    <a:bodyPr lIns="114300" tIns="114300" rIns="114300" bIns="114300"/>
                    <a:lstStyle/>
                    <a:p>
                      <a:r>
                        <a:rPr sz="1725" b="0">
                          <a:solidFill>
                            <a:srgbClr val="172D3C"/>
                          </a:solidFill>
                          <a:latin typeface="Arial"/>
                          <a:ea typeface="Arial"/>
                          <a:cs typeface="Arial"/>
                        </a:rPr>
                        <a:t>Traiter les demandes du navigateur</a:t>
                      </a:r>
                    </a:p>
                  </a:txBody>
                  <a:tcPr marL="91440" marR="91440" marT="45720" marB="45720" anchor="ctr">
                    <a:solidFill>
                      <a:srgbClr val="F4F7F8"/>
                    </a:solidFill>
                  </a:tcPr>
                </a:tc>
              </a:tr>
              <a:tr h="685800">
                <a:tc>
                  <a:txBody>
                    <a:bodyPr lIns="114300" tIns="114300" rIns="114300" bIns="114300"/>
                    <a:lstStyle/>
                    <a:p>
                      <a:r>
                        <a:rPr sz="1725" b="0">
                          <a:solidFill>
                            <a:srgbClr val="172D3C"/>
                          </a:solidFill>
                          <a:latin typeface="Arial"/>
                          <a:ea typeface="Arial"/>
                          <a:cs typeface="Arial"/>
                        </a:rPr>
                        <a:t>Services</a:t>
                      </a:r>
                    </a:p>
                  </a:txBody>
                  <a:tcPr marL="91440" marR="91440" marT="45720" marB="45720" anchor="ctr">
                    <a:solidFill>
                      <a:srgbClr val="FFFFFF"/>
                    </a:solidFill>
                  </a:tcPr>
                </a:tc>
                <a:tc>
                  <a:txBody>
                    <a:bodyPr lIns="114300" tIns="114300" rIns="114300" bIns="114300"/>
                    <a:lstStyle/>
                    <a:p>
                      <a:r>
                        <a:rPr sz="1725" b="0">
                          <a:solidFill>
                            <a:srgbClr val="172D3C"/>
                          </a:solidFill>
                          <a:latin typeface="Arial"/>
                          <a:ea typeface="Arial"/>
                          <a:cs typeface="Arial"/>
                        </a:rPr>
                        <a:t>Collecte, alertes, prévisions</a:t>
                      </a:r>
                    </a:p>
                  </a:txBody>
                  <a:tcPr marL="91440" marR="91440" marT="45720" marB="45720" anchor="ctr">
                    <a:solidFill>
                      <a:srgbClr val="FFFFFF"/>
                    </a:solidFill>
                  </a:tcPr>
                </a:tc>
                <a:tc>
                  <a:txBody>
                    <a:bodyPr lIns="114300" tIns="114300" rIns="114300" bIns="114300"/>
                    <a:lstStyle/>
                    <a:p>
                      <a:r>
                        <a:rPr sz="1725" b="0">
                          <a:solidFill>
                            <a:srgbClr val="172D3C"/>
                          </a:solidFill>
                          <a:latin typeface="Arial"/>
                          <a:ea typeface="Arial"/>
                          <a:cs typeface="Arial"/>
                        </a:rPr>
                        <a:t>Appliquer les règles du projet</a:t>
                      </a:r>
                    </a:p>
                  </a:txBody>
                  <a:tcPr marL="91440" marR="91440" marT="45720" marB="45720" anchor="ctr">
                    <a:solidFill>
                      <a:srgbClr val="FFFFFF"/>
                    </a:solidFill>
                  </a:tcPr>
                </a:tc>
              </a:tr>
              <a:tr h="685800">
                <a:tc>
                  <a:txBody>
                    <a:bodyPr lIns="114300" tIns="114300" rIns="114300" bIns="114300"/>
                    <a:lstStyle/>
                    <a:p>
                      <a:r>
                        <a:rPr sz="1725" b="0">
                          <a:solidFill>
                            <a:srgbClr val="172D3C"/>
                          </a:solidFill>
                          <a:latin typeface="Arial"/>
                          <a:ea typeface="Arial"/>
                          <a:cs typeface="Arial"/>
                        </a:rPr>
                        <a:t>Base de données</a:t>
                      </a:r>
                    </a:p>
                  </a:txBody>
                  <a:tcPr marL="91440" marR="91440" marT="45720" marB="45720" anchor="ctr">
                    <a:solidFill>
                      <a:srgbClr val="F4F7F8"/>
                    </a:solidFill>
                  </a:tcPr>
                </a:tc>
                <a:tc>
                  <a:txBody>
                    <a:bodyPr lIns="114300" tIns="114300" rIns="114300" bIns="114300"/>
                    <a:lstStyle/>
                    <a:p>
                      <a:r>
                        <a:rPr sz="1725" b="0">
                          <a:solidFill>
                            <a:srgbClr val="172D3C"/>
                          </a:solidFill>
                          <a:latin typeface="Arial"/>
                          <a:ea typeface="Arial"/>
                          <a:cs typeface="Arial"/>
                        </a:rPr>
                        <a:t>SQLite ou MySQL 8</a:t>
                      </a:r>
                    </a:p>
                  </a:txBody>
                  <a:tcPr marL="91440" marR="91440" marT="45720" marB="45720" anchor="ctr">
                    <a:solidFill>
                      <a:srgbClr val="F4F7F8"/>
                    </a:solidFill>
                  </a:tcPr>
                </a:tc>
                <a:tc>
                  <a:txBody>
                    <a:bodyPr lIns="114300" tIns="114300" rIns="114300" bIns="114300"/>
                    <a:lstStyle/>
                    <a:p>
                      <a:r>
                        <a:rPr sz="1725" b="0">
                          <a:solidFill>
                            <a:srgbClr val="172D3C"/>
                          </a:solidFill>
                          <a:latin typeface="Arial"/>
                          <a:ea typeface="Arial"/>
                          <a:cs typeface="Arial"/>
                        </a:rPr>
                        <a:t>Conserver l’historique et les traces</a:t>
                      </a:r>
                    </a:p>
                  </a:txBody>
                  <a:tcPr marL="91440" marR="91440" marT="45720" marB="45720" anchor="ctr">
                    <a:solidFill>
                      <a:srgbClr val="F4F7F8"/>
                    </a:solidFill>
                  </a:tcPr>
                </a:tc>
              </a:tr>
              <a:tr h="685800">
                <a:tc>
                  <a:txBody>
                    <a:bodyPr lIns="114300" tIns="114300" rIns="114300" bIns="114300"/>
                    <a:lstStyle/>
                    <a:p>
                      <a:r>
                        <a:rPr sz="1725" b="0">
                          <a:solidFill>
                            <a:srgbClr val="172D3C"/>
                          </a:solidFill>
                          <a:latin typeface="Arial"/>
                          <a:ea typeface="Arial"/>
                          <a:cs typeface="Arial"/>
                        </a:rPr>
                        <a:t>Analyse</a:t>
                      </a:r>
                    </a:p>
                  </a:txBody>
                  <a:tcPr marL="91440" marR="91440" marT="45720" marB="45720" anchor="ctr">
                    <a:solidFill>
                      <a:srgbClr val="FFFFFF"/>
                    </a:solidFill>
                  </a:tcPr>
                </a:tc>
                <a:tc>
                  <a:txBody>
                    <a:bodyPr lIns="114300" tIns="114300" rIns="114300" bIns="114300"/>
                    <a:lstStyle/>
                    <a:p>
                      <a:r>
                        <a:rPr sz="1725" b="0">
                          <a:solidFill>
                            <a:srgbClr val="172D3C"/>
                          </a:solidFill>
                          <a:latin typeface="Arial"/>
                          <a:ea typeface="Arial"/>
                          <a:cs typeface="Arial"/>
                        </a:rPr>
                        <a:t>pandas, NumPy, scikit-learn</a:t>
                      </a:r>
                    </a:p>
                  </a:txBody>
                  <a:tcPr marL="91440" marR="91440" marT="45720" marB="45720" anchor="ctr">
                    <a:solidFill>
                      <a:srgbClr val="FFFFFF"/>
                    </a:solidFill>
                  </a:tcPr>
                </a:tc>
                <a:tc>
                  <a:txBody>
                    <a:bodyPr lIns="114300" tIns="114300" rIns="114300" bIns="114300"/>
                    <a:lstStyle/>
                    <a:p>
                      <a:r>
                        <a:rPr sz="1725" b="0">
                          <a:solidFill>
                            <a:srgbClr val="172D3C"/>
                          </a:solidFill>
                          <a:latin typeface="Arial"/>
                          <a:ea typeface="Arial"/>
                          <a:cs typeface="Arial"/>
                        </a:rPr>
                        <a:t>Explorer et évaluer les modèles</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586830549"/>
      </p:ext>
    </p:extLst>
  </p:cSld>
</p:sld>
</file>

<file path=ppt/slides/slide7.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1" name="Fiabilité des informations">
            <a:extLst xmlns:a="http://schemas.openxmlformats.org/drawingml/2006/main">
              <a:ext uri="{FF2B5EF4-FFF2-40B4-BE49-F238E27FC236}">
                <a16:creationId xmlns:a16="http://schemas.microsoft.com/office/drawing/2014/main" id="{67A6F328-7EBE-4647-8142-C97625FFC40D}"/>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3C"/>
                </a:solidFill>
                <a:latin typeface="Arial"/>
                <a:ea typeface="Arial"/>
                <a:cs typeface="Arial"/>
              </a:defRPr>
            </a:defPPr>
          </a:lstStyle>
          <a:p xmlns:a="http://schemas.openxmlformats.org/drawingml/2006/main">
            <a:pPr algn="l">
              <a:defRPr sz="3300" b="1">
                <a:solidFill>
                  <a:srgbClr val="172D3C"/>
                </a:solidFill>
                <a:latin typeface="Arial"/>
                <a:ea typeface="Arial"/>
                <a:cs typeface="Arial"/>
              </a:defRPr>
            </a:pPr>
            <a:r>
              <a:rPr sz="3300" b="1">
                <a:solidFill>
                  <a:srgbClr val="172D3C"/>
                </a:solidFill>
                <a:latin typeface="Arial"/>
                <a:ea typeface="Arial"/>
                <a:cs typeface="Arial"/>
              </a:rPr>
              <a:t>​Fiabilité des informations</a:t>
            </a:r>
          </a:p>
        </p:txBody>
      </p:sp>
      <p:sp>
        <p:nvSpPr>
          <p:cNvPr id="2" name="07">
            <a:extLst xmlns:a="http://schemas.openxmlformats.org/drawingml/2006/main">
              <a:ext uri="{FF2B5EF4-FFF2-40B4-BE49-F238E27FC236}">
                <a16:creationId xmlns:a16="http://schemas.microsoft.com/office/drawing/2014/main" id="{B2309957-2D44-4C85-8B24-E0172B078B35}"/>
              </a:ext>
            </a:extLst>
          </p:cNvPr>
          <p:cNvSpPr>
            <a:spLocks xmlns:a="http://schemas.openxmlformats.org/drawingml/2006/main" noGrp="1"/>
          </p:cNvSpPr>
          <p:nvPr/>
        </p:nvSpPr>
        <p:spPr>
          <a:xfrm xmlns:a="http://schemas.openxmlformats.org/drawingml/2006/main">
            <a:off x="110490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16573"/>
                </a:solidFill>
                <a:latin typeface="Arial"/>
                <a:ea typeface="Arial"/>
                <a:cs typeface="Arial"/>
              </a:defRPr>
            </a:defPPr>
          </a:lstStyle>
          <a:p xmlns:a="http://schemas.openxmlformats.org/drawingml/2006/main">
            <a:pPr algn="r">
              <a:defRPr sz="1200" b="0">
                <a:solidFill>
                  <a:srgbClr val="516573"/>
                </a:solidFill>
                <a:latin typeface="Arial"/>
                <a:ea typeface="Arial"/>
                <a:cs typeface="Arial"/>
              </a:defRPr>
            </a:pPr>
            <a:r>
              <a:rPr sz="1200" b="0">
                <a:solidFill>
                  <a:srgbClr val="516573"/>
                </a:solidFill>
                <a:latin typeface="Arial"/>
                <a:ea typeface="Arial"/>
                <a:cs typeface="Arial"/>
              </a:rPr>
              <a:t>​07</a:t>
            </a:r>
          </a:p>
        </p:txBody>
      </p:sp>
      <p:sp>
        <p:nvSpPr>
          <p:cNvPr id="3" name="Dates distinctes">
            <a:extLst xmlns:a="http://schemas.openxmlformats.org/drawingml/2006/main">
              <a:ext uri="{FF2B5EF4-FFF2-40B4-BE49-F238E27FC236}">
                <a16:creationId xmlns:a16="http://schemas.microsoft.com/office/drawing/2014/main" id="{96369662-6C07-4743-823E-CFF944CD9135}"/>
              </a:ext>
            </a:extLst>
          </p:cNvPr>
          <p:cNvSpPr>
            <a:spLocks xmlns:a="http://schemas.openxmlformats.org/drawingml/2006/main" noGrp="1"/>
          </p:cNvSpPr>
          <p:nvPr/>
        </p:nvSpPr>
        <p:spPr>
          <a:xfrm xmlns:a="http://schemas.openxmlformats.org/drawingml/2006/main">
            <a:off x="685800" y="18859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​Dates distinctes</a:t>
            </a:r>
          </a:p>
        </p:txBody>
      </p:sp>
      <p:sp>
        <p:nvSpPr>
          <p:cNvPr id="4" name="La date source indique la période du relevé. ">
            <a:extLst xmlns:a="http://schemas.openxmlformats.org/drawingml/2006/main">
              <a:ext uri="{FF2B5EF4-FFF2-40B4-BE49-F238E27FC236}">
                <a16:creationId xmlns:a16="http://schemas.microsoft.com/office/drawing/2014/main" id="{96367ED9-2FDC-4C43-A5FA-C88C3E06C4FC}"/>
              </a:ext>
            </a:extLst>
          </p:cNvPr>
          <p:cNvSpPr>
            <a:spLocks xmlns:a="http://schemas.openxmlformats.org/drawingml/2006/main" noGrp="1"/>
          </p:cNvSpPr>
          <p:nvPr/>
        </p:nvSpPr>
        <p:spPr>
          <a:xfrm xmlns:a="http://schemas.openxmlformats.org/drawingml/2006/main">
            <a:off x="685800" y="25146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73"/>
                </a:solidFill>
                <a:latin typeface="Arial"/>
                <a:ea typeface="Arial"/>
                <a:cs typeface="Arial"/>
              </a:defRPr>
            </a:defPPr>
          </a:lstStyle>
          <a:p xmlns:a="http://schemas.openxmlformats.org/drawingml/2006/main">
            <a:pPr algn="l">
              <a:defRPr sz="1950" b="0">
                <a:solidFill>
                  <a:srgbClr val="516573"/>
                </a:solidFill>
                <a:latin typeface="Arial"/>
                <a:ea typeface="Arial"/>
                <a:cs typeface="Arial"/>
              </a:defRPr>
            </a:pPr>
            <a:r>
              <a:rPr sz="1950" b="0">
                <a:solidFill>
                  <a:srgbClr val="516573"/>
                </a:solidFill>
                <a:latin typeface="Arial"/>
                <a:ea typeface="Arial"/>
                <a:cs typeface="Arial"/>
              </a:rPr>
              <a:t>​La date source indique la période du relevé. La date de collecte indique quand l’application l’a reçu.</a:t>
            </a:r>
          </a:p>
        </p:txBody>
      </p:sp>
      <p:sp>
        <p:nvSpPr>
          <p:cNvPr id="5" name="Comparaison sous conditions">
            <a:extLst xmlns:a="http://schemas.openxmlformats.org/drawingml/2006/main">
              <a:ext uri="{FF2B5EF4-FFF2-40B4-BE49-F238E27FC236}">
                <a16:creationId xmlns:a16="http://schemas.microsoft.com/office/drawing/2014/main" id="{BDE7957D-CC73-4AA3-807D-2FC8C10BAB95}"/>
              </a:ext>
            </a:extLst>
          </p:cNvPr>
          <p:cNvSpPr>
            <a:spLocks xmlns:a="http://schemas.openxmlformats.org/drawingml/2006/main" noGrp="1"/>
          </p:cNvSpPr>
          <p:nvPr/>
        </p:nvSpPr>
        <p:spPr>
          <a:xfrm xmlns:a="http://schemas.openxmlformats.org/drawingml/2006/main">
            <a:off x="6543675" y="18859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​Comparaison sous conditions</a:t>
            </a:r>
          </a:p>
        </p:txBody>
      </p:sp>
      <p:sp>
        <p:nvSpPr>
          <p:cNvPr id="6" name="L’application compare les séries équivalentes">
            <a:extLst xmlns:a="http://schemas.openxmlformats.org/drawingml/2006/main">
              <a:ext uri="{FF2B5EF4-FFF2-40B4-BE49-F238E27FC236}">
                <a16:creationId xmlns:a16="http://schemas.microsoft.com/office/drawing/2014/main" id="{42FB709D-D5DF-4913-9A56-2BF29B081509}"/>
              </a:ext>
            </a:extLst>
          </p:cNvPr>
          <p:cNvSpPr>
            <a:spLocks xmlns:a="http://schemas.openxmlformats.org/drawingml/2006/main" noGrp="1"/>
          </p:cNvSpPr>
          <p:nvPr/>
        </p:nvSpPr>
        <p:spPr>
          <a:xfrm xmlns:a="http://schemas.openxmlformats.org/drawingml/2006/main">
            <a:off x="6543675" y="25146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73"/>
                </a:solidFill>
                <a:latin typeface="Arial"/>
                <a:ea typeface="Arial"/>
                <a:cs typeface="Arial"/>
              </a:defRPr>
            </a:defPPr>
          </a:lstStyle>
          <a:p xmlns:a="http://schemas.openxmlformats.org/drawingml/2006/main">
            <a:pPr algn="l">
              <a:defRPr sz="1950" b="0">
                <a:solidFill>
                  <a:srgbClr val="516573"/>
                </a:solidFill>
                <a:latin typeface="Arial"/>
                <a:ea typeface="Arial"/>
                <a:cs typeface="Arial"/>
              </a:defRPr>
            </a:pPr>
            <a:r>
              <a:rPr sz="1950" b="0">
                <a:solidFill>
                  <a:srgbClr val="516573"/>
                </a:solidFill>
                <a:latin typeface="Arial"/>
                <a:ea typeface="Arial"/>
                <a:cs typeface="Arial"/>
              </a:rPr>
              <a:t>​L’application compare les séries équivalentes de même date, unité et devise.</a:t>
            </a:r>
          </a:p>
        </p:txBody>
      </p:sp>
      <p:sp>
        <p:nvSpPr>
          <p:cNvPr id="7" name="Fraîcheur visible">
            <a:extLst xmlns:a="http://schemas.openxmlformats.org/drawingml/2006/main">
              <a:ext uri="{FF2B5EF4-FFF2-40B4-BE49-F238E27FC236}">
                <a16:creationId xmlns:a16="http://schemas.microsoft.com/office/drawing/2014/main" id="{CB436358-8568-4CE6-A3EC-3B0198CA688C}"/>
              </a:ext>
            </a:extLst>
          </p:cNvPr>
          <p:cNvSpPr>
            <a:spLocks xmlns:a="http://schemas.openxmlformats.org/drawingml/2006/main" noGrp="1"/>
          </p:cNvSpPr>
          <p:nvPr/>
        </p:nvSpPr>
        <p:spPr>
          <a:xfrm xmlns:a="http://schemas.openxmlformats.org/drawingml/2006/main">
            <a:off x="685800" y="387667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​Fraîcheur visible</a:t>
            </a:r>
          </a:p>
        </p:txBody>
      </p:sp>
      <p:sp>
        <p:nvSpPr>
          <p:cNvPr id="8" name="Les données anciennes et les cotations non ac">
            <a:extLst xmlns:a="http://schemas.openxmlformats.org/drawingml/2006/main">
              <a:ext uri="{FF2B5EF4-FFF2-40B4-BE49-F238E27FC236}">
                <a16:creationId xmlns:a16="http://schemas.microsoft.com/office/drawing/2014/main" id="{3B43F0BF-452B-4E72-A98E-ABA3DAB5D3BA}"/>
              </a:ext>
            </a:extLst>
          </p:cNvPr>
          <p:cNvSpPr>
            <a:spLocks xmlns:a="http://schemas.openxmlformats.org/drawingml/2006/main" noGrp="1"/>
          </p:cNvSpPr>
          <p:nvPr/>
        </p:nvSpPr>
        <p:spPr>
          <a:xfrm xmlns:a="http://schemas.openxmlformats.org/drawingml/2006/main">
            <a:off x="685800" y="450532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73"/>
                </a:solidFill>
                <a:latin typeface="Arial"/>
                <a:ea typeface="Arial"/>
                <a:cs typeface="Arial"/>
              </a:defRPr>
            </a:defPPr>
          </a:lstStyle>
          <a:p xmlns:a="http://schemas.openxmlformats.org/drawingml/2006/main">
            <a:pPr algn="l">
              <a:defRPr sz="1950" b="0">
                <a:solidFill>
                  <a:srgbClr val="516573"/>
                </a:solidFill>
                <a:latin typeface="Arial"/>
                <a:ea typeface="Arial"/>
                <a:cs typeface="Arial"/>
              </a:defRPr>
            </a:pPr>
            <a:r>
              <a:rPr sz="1950" b="0">
                <a:solidFill>
                  <a:srgbClr val="516573"/>
                </a:solidFill>
                <a:latin typeface="Arial"/>
                <a:ea typeface="Arial"/>
                <a:cs typeface="Arial"/>
              </a:rPr>
              <a:t>​Les données anciennes et les cotations non actualisées apparaissent avec leur statut.</a:t>
            </a:r>
          </a:p>
        </p:txBody>
      </p:sp>
      <p:sp>
        <p:nvSpPr>
          <p:cNvPr id="9" name="Historique conservé">
            <a:extLst xmlns:a="http://schemas.openxmlformats.org/drawingml/2006/main">
              <a:ext uri="{FF2B5EF4-FFF2-40B4-BE49-F238E27FC236}">
                <a16:creationId xmlns:a16="http://schemas.microsoft.com/office/drawing/2014/main" id="{118B079E-8E84-4887-B865-7AE36CB315E5}"/>
              </a:ext>
            </a:extLst>
          </p:cNvPr>
          <p:cNvSpPr>
            <a:spLocks xmlns:a="http://schemas.openxmlformats.org/drawingml/2006/main" noGrp="1"/>
          </p:cNvSpPr>
          <p:nvPr/>
        </p:nvSpPr>
        <p:spPr>
          <a:xfrm xmlns:a="http://schemas.openxmlformats.org/drawingml/2006/main">
            <a:off x="6543675" y="38766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​Historique conservé</a:t>
            </a:r>
          </a:p>
        </p:txBody>
      </p:sp>
      <p:sp>
        <p:nvSpPr>
          <p:cNvPr id="10" name="Les valeurs enregistrées restent consultables">
            <a:extLst xmlns:a="http://schemas.openxmlformats.org/drawingml/2006/main">
              <a:ext uri="{FF2B5EF4-FFF2-40B4-BE49-F238E27FC236}">
                <a16:creationId xmlns:a16="http://schemas.microsoft.com/office/drawing/2014/main" id="{9BDB1D58-3371-4DDE-974F-C55E4E897C1B}"/>
              </a:ext>
            </a:extLst>
          </p:cNvPr>
          <p:cNvSpPr>
            <a:spLocks xmlns:a="http://schemas.openxmlformats.org/drawingml/2006/main" noGrp="1"/>
          </p:cNvSpPr>
          <p:nvPr/>
        </p:nvSpPr>
        <p:spPr>
          <a:xfrm xmlns:a="http://schemas.openxmlformats.org/drawingml/2006/main">
            <a:off x="6543675" y="450532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73"/>
                </a:solidFill>
                <a:latin typeface="Arial"/>
                <a:ea typeface="Arial"/>
                <a:cs typeface="Arial"/>
              </a:defRPr>
            </a:defPPr>
          </a:lstStyle>
          <a:p xmlns:a="http://schemas.openxmlformats.org/drawingml/2006/main">
            <a:pPr algn="l">
              <a:defRPr sz="1950" b="0">
                <a:solidFill>
                  <a:srgbClr val="516573"/>
                </a:solidFill>
                <a:latin typeface="Arial"/>
                <a:ea typeface="Arial"/>
                <a:cs typeface="Arial"/>
              </a:defRPr>
            </a:pPr>
            <a:r>
              <a:rPr sz="1950" b="0">
                <a:solidFill>
                  <a:srgbClr val="516573"/>
                </a:solidFill>
                <a:latin typeface="Arial"/>
                <a:ea typeface="Arial"/>
                <a:cs typeface="Arial"/>
              </a:rPr>
              <a:t>​Les valeurs enregistrées restent consultables lorsque les sources sont indisponibles.</a:t>
            </a:r>
          </a:p>
        </p:txBody>
      </p:sp>
    </p:spTree>
    <p:extLst>
      <p:ext uri="{BB962C8B-B14F-4D97-AF65-F5344CB8AC3E}">
        <p14:creationId xmlns:p14="http://schemas.microsoft.com/office/powerpoint/2010/main" val="1490642911"/>
      </p:ext>
    </p:extLst>
  </p:cSld>
</p:sld>
</file>

<file path=ppt/slides/slide8.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0" name="Prévisions du tableau de bord">
            <a:extLst xmlns:a="http://schemas.openxmlformats.org/drawingml/2006/main">
              <a:ext uri="{FF2B5EF4-FFF2-40B4-BE49-F238E27FC236}">
                <a16:creationId xmlns:a16="http://schemas.microsoft.com/office/drawing/2014/main" id="{A6F5CF3B-81BA-48A9-AAEE-3CEDEC19EA16}"/>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3C"/>
                </a:solidFill>
                <a:latin typeface="Arial"/>
                <a:ea typeface="Arial"/>
                <a:cs typeface="Arial"/>
              </a:defRPr>
            </a:defPPr>
          </a:lstStyle>
          <a:p xmlns:a="http://schemas.openxmlformats.org/drawingml/2006/main">
            <a:pPr algn="l">
              <a:defRPr sz="3300" b="1">
                <a:solidFill>
                  <a:srgbClr val="172D3C"/>
                </a:solidFill>
                <a:latin typeface="Arial"/>
                <a:ea typeface="Arial"/>
                <a:cs typeface="Arial"/>
              </a:defRPr>
            </a:pPr>
            <a:r>
              <a:rPr sz="3300" b="1">
                <a:solidFill>
                  <a:srgbClr val="172D3C"/>
                </a:solidFill>
                <a:latin typeface="Arial"/>
                <a:ea typeface="Arial"/>
                <a:cs typeface="Arial"/>
              </a:rPr>
              <a:t>​Prévisions du tableau de bord</a:t>
            </a:r>
          </a:p>
        </p:txBody>
      </p:sp>
      <p:sp>
        <p:nvSpPr>
          <p:cNvPr id="2" name="08">
            <a:extLst xmlns:a="http://schemas.openxmlformats.org/drawingml/2006/main">
              <a:ext uri="{FF2B5EF4-FFF2-40B4-BE49-F238E27FC236}">
                <a16:creationId xmlns:a16="http://schemas.microsoft.com/office/drawing/2014/main" id="{5943A2AA-F246-4AB4-823C-D9305D8606E3}"/>
              </a:ext>
            </a:extLst>
          </p:cNvPr>
          <p:cNvSpPr>
            <a:spLocks xmlns:a="http://schemas.openxmlformats.org/drawingml/2006/main" noGrp="1"/>
          </p:cNvSpPr>
          <p:nvPr/>
        </p:nvSpPr>
        <p:spPr>
          <a:xfrm xmlns:a="http://schemas.openxmlformats.org/drawingml/2006/main">
            <a:off x="110490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16573"/>
                </a:solidFill>
                <a:latin typeface="Arial"/>
                <a:ea typeface="Arial"/>
                <a:cs typeface="Arial"/>
              </a:defRPr>
            </a:defPPr>
          </a:lstStyle>
          <a:p xmlns:a="http://schemas.openxmlformats.org/drawingml/2006/main">
            <a:pPr algn="r">
              <a:defRPr sz="1200" b="0">
                <a:solidFill>
                  <a:srgbClr val="516573"/>
                </a:solidFill>
                <a:latin typeface="Arial"/>
                <a:ea typeface="Arial"/>
                <a:cs typeface="Arial"/>
              </a:defRPr>
            </a:pPr>
            <a:r>
              <a:rPr sz="1200" b="0">
                <a:solidFill>
                  <a:srgbClr val="516573"/>
                </a:solidFill>
                <a:latin typeface="Arial"/>
                <a:ea typeface="Arial"/>
                <a:cs typeface="Arial"/>
              </a:rPr>
              <a:t>​08</a:t>
            </a:r>
          </a:p>
        </p:txBody>
      </p:sp>
      <p:sp>
        <p:nvSpPr>
          <p:cNvPr id="3" name="Brent et gasoil">
            <a:extLst xmlns:a="http://schemas.openxmlformats.org/drawingml/2006/main">
              <a:ext uri="{FF2B5EF4-FFF2-40B4-BE49-F238E27FC236}">
                <a16:creationId xmlns:a16="http://schemas.microsoft.com/office/drawing/2014/main" id="{EDB56933-38E6-448C-86AA-8F98B3F25ECC}"/>
              </a:ext>
            </a:extLst>
          </p:cNvPr>
          <p:cNvSpPr>
            <a:spLocks xmlns:a="http://schemas.openxmlformats.org/drawingml/2006/main" noGrp="1"/>
          </p:cNvSpPr>
          <p:nvPr/>
        </p:nvSpPr>
        <p:spPr>
          <a:xfrm xmlns:a="http://schemas.openxmlformats.org/drawingml/2006/main">
            <a:off x="685800" y="192405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2D3C"/>
                </a:solidFill>
                <a:latin typeface="Arial"/>
                <a:ea typeface="Arial"/>
                <a:cs typeface="Arial"/>
              </a:defRPr>
            </a:defPPr>
          </a:lstStyle>
          <a:p xmlns:a="http://schemas.openxmlformats.org/drawingml/2006/main">
            <a:pPr algn="l">
              <a:defRPr sz="2400" b="1">
                <a:solidFill>
                  <a:srgbClr val="172D3C"/>
                </a:solidFill>
                <a:latin typeface="Arial"/>
                <a:ea typeface="Arial"/>
                <a:cs typeface="Arial"/>
              </a:defRPr>
            </a:pPr>
            <a:r>
              <a:rPr sz="2400" b="1">
                <a:solidFill>
                  <a:srgbClr val="172D3C"/>
                </a:solidFill>
                <a:latin typeface="Arial"/>
                <a:ea typeface="Arial"/>
                <a:cs typeface="Arial"/>
              </a:rPr>
              <a:t>​Brent et gasoil</a:t>
            </a:r>
          </a:p>
        </p:txBody>
      </p:sp>
      <p:sp>
        <p:nvSpPr>
          <p:cNvPr id="4" name="7, 30 et 90 jours">
            <a:extLst xmlns:a="http://schemas.openxmlformats.org/drawingml/2006/main">
              <a:ext uri="{FF2B5EF4-FFF2-40B4-BE49-F238E27FC236}">
                <a16:creationId xmlns:a16="http://schemas.microsoft.com/office/drawing/2014/main" id="{FC25B638-25F5-4694-A104-219DBEAECFF1}"/>
              </a:ext>
            </a:extLst>
          </p:cNvPr>
          <p:cNvSpPr>
            <a:spLocks xmlns:a="http://schemas.openxmlformats.org/drawingml/2006/main" noGrp="1"/>
          </p:cNvSpPr>
          <p:nvPr/>
        </p:nvSpPr>
        <p:spPr>
          <a:xfrm xmlns:a="http://schemas.openxmlformats.org/drawingml/2006/main">
            <a:off x="685800" y="2647950"/>
            <a:ext cx="5286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087F83"/>
                </a:solidFill>
                <a:latin typeface="Arial"/>
                <a:ea typeface="Arial"/>
                <a:cs typeface="Arial"/>
              </a:defRPr>
            </a:defPPr>
          </a:lstStyle>
          <a:p xmlns:a="http://schemas.openxmlformats.org/drawingml/2006/main">
            <a:pPr algn="l">
              <a:defRPr sz="3150" b="1">
                <a:solidFill>
                  <a:srgbClr val="087F83"/>
                </a:solidFill>
                <a:latin typeface="Arial"/>
                <a:ea typeface="Arial"/>
                <a:cs typeface="Arial"/>
              </a:defRPr>
            </a:pPr>
            <a:r>
              <a:rPr sz="3150" b="1">
                <a:solidFill>
                  <a:srgbClr val="087F83"/>
                </a:solidFill>
                <a:latin typeface="Arial"/>
                <a:ea typeface="Arial"/>
                <a:cs typeface="Arial"/>
              </a:rPr>
              <a:t>​7, 30 et 90 jours</a:t>
            </a:r>
          </a:p>
        </p:txBody>
      </p:sp>
      <p:sp>
        <p:nvSpPr>
          <p:cNvPr id="5" name="Données quotidiennes&#10;Origine : dernière date ">
            <a:extLst xmlns:a="http://schemas.openxmlformats.org/drawingml/2006/main">
              <a:ext uri="{FF2B5EF4-FFF2-40B4-BE49-F238E27FC236}">
                <a16:creationId xmlns:a16="http://schemas.microsoft.com/office/drawing/2014/main" id="{DA00811F-2F38-49CA-9DD1-B75B328948D2}"/>
              </a:ext>
            </a:extLst>
          </p:cNvPr>
          <p:cNvSpPr>
            <a:spLocks xmlns:a="http://schemas.openxmlformats.org/drawingml/2006/main" noGrp="1"/>
          </p:cNvSpPr>
          <p:nvPr/>
        </p:nvSpPr>
        <p:spPr>
          <a:xfrm xmlns:a="http://schemas.openxmlformats.org/drawingml/2006/main">
            <a:off x="685800" y="3667125"/>
            <a:ext cx="4953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16573"/>
                </a:solidFill>
                <a:latin typeface="Arial"/>
                <a:ea typeface="Arial"/>
                <a:cs typeface="Arial"/>
              </a:defRPr>
            </a:defPPr>
          </a:lstStyle>
          <a:p xmlns:a="http://schemas.openxmlformats.org/drawingml/2006/main">
            <a:pPr algn="l">
              <a:defRPr sz="2025" b="0">
                <a:solidFill>
                  <a:srgbClr val="516573"/>
                </a:solidFill>
                <a:latin typeface="Arial"/>
                <a:ea typeface="Arial"/>
                <a:cs typeface="Arial"/>
              </a:defRPr>
            </a:pPr>
            <a:r>
              <a:rPr sz="2025" b="0">
                <a:solidFill>
                  <a:srgbClr val="516573"/>
                </a:solidFill>
                <a:latin typeface="Arial"/>
                <a:ea typeface="Arial"/>
                <a:cs typeface="Arial"/>
              </a:rPr>
              <a:t>​Données quotidiennes</a:t>
            </a:r>
          </a:p>
          <a:p xmlns:a="http://schemas.openxmlformats.org/drawingml/2006/main">
            <a:pPr algn="l">
              <a:defRPr sz="2025" b="0">
                <a:solidFill>
                  <a:srgbClr val="516573"/>
                </a:solidFill>
                <a:latin typeface="Arial"/>
                <a:ea typeface="Arial"/>
                <a:cs typeface="Arial"/>
              </a:defRPr>
            </a:pPr>
            <a:r>
              <a:rPr sz="2025" b="0">
                <a:solidFill>
                  <a:srgbClr val="516573"/>
                </a:solidFill>
                <a:latin typeface="Arial"/>
                <a:ea typeface="Arial"/>
                <a:cs typeface="Arial"/>
              </a:rPr>
              <a:t>Origine : dernière date source</a:t>
            </a:r>
          </a:p>
        </p:txBody>
      </p:sp>
      <p:sp>
        <p:nvSpPr>
          <p:cNvPr id="6" name="Indice bitume">
            <a:extLst xmlns:a="http://schemas.openxmlformats.org/drawingml/2006/main">
              <a:ext uri="{FF2B5EF4-FFF2-40B4-BE49-F238E27FC236}">
                <a16:creationId xmlns:a16="http://schemas.microsoft.com/office/drawing/2014/main" id="{E83669AD-D9A8-4A49-9105-732F53DC09A3}"/>
              </a:ext>
            </a:extLst>
          </p:cNvPr>
          <p:cNvSpPr>
            <a:spLocks xmlns:a="http://schemas.openxmlformats.org/drawingml/2006/main" noGrp="1"/>
          </p:cNvSpPr>
          <p:nvPr/>
        </p:nvSpPr>
        <p:spPr>
          <a:xfrm xmlns:a="http://schemas.openxmlformats.org/drawingml/2006/main">
            <a:off x="6543675" y="1924050"/>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2D3C"/>
                </a:solidFill>
                <a:latin typeface="Arial"/>
                <a:ea typeface="Arial"/>
                <a:cs typeface="Arial"/>
              </a:defRPr>
            </a:defPPr>
          </a:lstStyle>
          <a:p xmlns:a="http://schemas.openxmlformats.org/drawingml/2006/main">
            <a:pPr algn="l">
              <a:defRPr sz="2400" b="1">
                <a:solidFill>
                  <a:srgbClr val="172D3C"/>
                </a:solidFill>
                <a:latin typeface="Arial"/>
                <a:ea typeface="Arial"/>
                <a:cs typeface="Arial"/>
              </a:defRPr>
            </a:pPr>
            <a:r>
              <a:rPr sz="2400" b="1">
                <a:solidFill>
                  <a:srgbClr val="172D3C"/>
                </a:solidFill>
                <a:latin typeface="Arial"/>
                <a:ea typeface="Arial"/>
                <a:cs typeface="Arial"/>
              </a:rPr>
              <a:t>​Indice bitume</a:t>
            </a:r>
          </a:p>
        </p:txBody>
      </p:sp>
      <p:sp>
        <p:nvSpPr>
          <p:cNvPr id="7" name="1, 3 et 6 mois">
            <a:extLst xmlns:a="http://schemas.openxmlformats.org/drawingml/2006/main">
              <a:ext uri="{FF2B5EF4-FFF2-40B4-BE49-F238E27FC236}">
                <a16:creationId xmlns:a16="http://schemas.microsoft.com/office/drawing/2014/main" id="{5900A761-C47E-4423-8117-52C7F43872D6}"/>
              </a:ext>
            </a:extLst>
          </p:cNvPr>
          <p:cNvSpPr>
            <a:spLocks xmlns:a="http://schemas.openxmlformats.org/drawingml/2006/main" noGrp="1"/>
          </p:cNvSpPr>
          <p:nvPr/>
        </p:nvSpPr>
        <p:spPr>
          <a:xfrm xmlns:a="http://schemas.openxmlformats.org/drawingml/2006/main">
            <a:off x="6543675" y="2647950"/>
            <a:ext cx="4953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B86634"/>
                </a:solidFill>
                <a:latin typeface="Arial"/>
                <a:ea typeface="Arial"/>
                <a:cs typeface="Arial"/>
              </a:defRPr>
            </a:defPPr>
          </a:lstStyle>
          <a:p xmlns:a="http://schemas.openxmlformats.org/drawingml/2006/main">
            <a:pPr algn="l">
              <a:defRPr sz="3150" b="1">
                <a:solidFill>
                  <a:srgbClr val="B86634"/>
                </a:solidFill>
                <a:latin typeface="Arial"/>
                <a:ea typeface="Arial"/>
                <a:cs typeface="Arial"/>
              </a:defRPr>
            </a:pPr>
            <a:r>
              <a:rPr sz="3150" b="1">
                <a:solidFill>
                  <a:srgbClr val="B86634"/>
                </a:solidFill>
                <a:latin typeface="Arial"/>
                <a:ea typeface="Arial"/>
                <a:cs typeface="Arial"/>
              </a:rPr>
              <a:t>​1, 3 et 6 mois</a:t>
            </a:r>
          </a:p>
        </p:txBody>
      </p:sp>
      <p:sp>
        <p:nvSpPr>
          <p:cNvPr id="8" name="Données mensuelles&#10;Unité : points d’indice">
            <a:extLst xmlns:a="http://schemas.openxmlformats.org/drawingml/2006/main">
              <a:ext uri="{FF2B5EF4-FFF2-40B4-BE49-F238E27FC236}">
                <a16:creationId xmlns:a16="http://schemas.microsoft.com/office/drawing/2014/main" id="{2C44FDE9-9039-4AB0-8037-5659EC4991D7}"/>
              </a:ext>
            </a:extLst>
          </p:cNvPr>
          <p:cNvSpPr>
            <a:spLocks xmlns:a="http://schemas.openxmlformats.org/drawingml/2006/main" noGrp="1"/>
          </p:cNvSpPr>
          <p:nvPr/>
        </p:nvSpPr>
        <p:spPr>
          <a:xfrm xmlns:a="http://schemas.openxmlformats.org/drawingml/2006/main">
            <a:off x="6543675" y="3667125"/>
            <a:ext cx="4953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16573"/>
                </a:solidFill>
                <a:latin typeface="Arial"/>
                <a:ea typeface="Arial"/>
                <a:cs typeface="Arial"/>
              </a:defRPr>
            </a:defPPr>
          </a:lstStyle>
          <a:p xmlns:a="http://schemas.openxmlformats.org/drawingml/2006/main">
            <a:pPr algn="l">
              <a:defRPr sz="2025" b="0">
                <a:solidFill>
                  <a:srgbClr val="516573"/>
                </a:solidFill>
                <a:latin typeface="Arial"/>
                <a:ea typeface="Arial"/>
                <a:cs typeface="Arial"/>
              </a:defRPr>
            </a:pPr>
            <a:r>
              <a:rPr sz="2025" b="0">
                <a:solidFill>
                  <a:srgbClr val="516573"/>
                </a:solidFill>
                <a:latin typeface="Arial"/>
                <a:ea typeface="Arial"/>
                <a:cs typeface="Arial"/>
              </a:rPr>
              <a:t>​Données mensuelles</a:t>
            </a:r>
          </a:p>
          <a:p xmlns:a="http://schemas.openxmlformats.org/drawingml/2006/main">
            <a:pPr algn="l">
              <a:defRPr sz="2025" b="0">
                <a:solidFill>
                  <a:srgbClr val="516573"/>
                </a:solidFill>
                <a:latin typeface="Arial"/>
                <a:ea typeface="Arial"/>
                <a:cs typeface="Arial"/>
              </a:defRPr>
            </a:pPr>
            <a:r>
              <a:rPr sz="2025" b="0">
                <a:solidFill>
                  <a:srgbClr val="516573"/>
                </a:solidFill>
                <a:latin typeface="Arial"/>
                <a:ea typeface="Arial"/>
                <a:cs typeface="Arial"/>
              </a:rPr>
              <a:t>Unité : points d’indice</a:t>
            </a:r>
          </a:p>
        </p:txBody>
      </p:sp>
      <p:sp>
        <p:nvSpPr>
          <p:cNvPr id="9" name="Modèle de Holt à tendance amortie, avec bande">
            <a:extLst xmlns:a="http://schemas.openxmlformats.org/drawingml/2006/main">
              <a:ext uri="{FF2B5EF4-FFF2-40B4-BE49-F238E27FC236}">
                <a16:creationId xmlns:a16="http://schemas.microsoft.com/office/drawing/2014/main" id="{4625816F-C697-4B02-9B6E-A8BA2B0AE2E1}"/>
              </a:ext>
            </a:extLst>
          </p:cNvPr>
          <p:cNvSpPr>
            <a:spLocks xmlns:a="http://schemas.openxmlformats.org/drawingml/2006/main" noGrp="1"/>
          </p:cNvSpPr>
          <p:nvPr/>
        </p:nvSpPr>
        <p:spPr>
          <a:xfrm xmlns:a="http://schemas.openxmlformats.org/drawingml/2006/main">
            <a:off x="685800" y="5257800"/>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D3C"/>
                </a:solidFill>
                <a:latin typeface="Arial"/>
                <a:ea typeface="Arial"/>
                <a:cs typeface="Arial"/>
              </a:defRPr>
            </a:defPPr>
          </a:lstStyle>
          <a:p xmlns:a="http://schemas.openxmlformats.org/drawingml/2006/main">
            <a:pPr algn="l">
              <a:defRPr sz="2100" b="0">
                <a:solidFill>
                  <a:srgbClr val="172D3C"/>
                </a:solidFill>
                <a:latin typeface="Arial"/>
                <a:ea typeface="Arial"/>
                <a:cs typeface="Arial"/>
              </a:defRPr>
            </a:pPr>
            <a:r>
              <a:rPr sz="2100" b="0">
                <a:solidFill>
                  <a:srgbClr val="172D3C"/>
                </a:solidFill>
                <a:latin typeface="Arial"/>
                <a:ea typeface="Arial"/>
                <a:cs typeface="Arial"/>
              </a:rPr>
              <a:t>​Modèle de Holt à tendance amortie, avec bandes indicatives</a:t>
            </a:r>
          </a:p>
          <a:p xmlns:a="http://schemas.openxmlformats.org/drawingml/2006/main">
            <a:pPr algn="l">
              <a:defRPr sz="2100" b="0">
                <a:solidFill>
                  <a:srgbClr val="172D3C"/>
                </a:solidFill>
                <a:latin typeface="Arial"/>
                <a:ea typeface="Arial"/>
                <a:cs typeface="Arial"/>
              </a:defRPr>
            </a:pPr>
            <a:r>
              <a:rPr sz="2100" b="0">
                <a:solidFill>
                  <a:srgbClr val="172D3C"/>
                </a:solidFill>
                <a:latin typeface="Arial"/>
                <a:ea typeface="Arial"/>
                <a:cs typeface="Arial"/>
              </a:rPr>
              <a:t>et validation historique.</a:t>
            </a:r>
          </a:p>
        </p:txBody>
      </p:sp>
    </p:spTree>
    <p:extLst>
      <p:ext uri="{BB962C8B-B14F-4D97-AF65-F5344CB8AC3E}">
        <p14:creationId xmlns:p14="http://schemas.microsoft.com/office/powerpoint/2010/main" val="646718137"/>
      </p:ext>
    </p:extLst>
  </p:cSld>
</p:sld>
</file>

<file path=ppt/slides/slide9.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3" name="Analyse et l’évaluation des modèles">
            <a:extLst xmlns:a="http://schemas.openxmlformats.org/drawingml/2006/main">
              <a:ext uri="{FF2B5EF4-FFF2-40B4-BE49-F238E27FC236}">
                <a16:creationId xmlns:a16="http://schemas.microsoft.com/office/drawing/2014/main" id="{65DA8D76-8836-49EB-AB33-C4B59D75C856}"/>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3C"/>
                </a:solidFill>
                <a:latin typeface="Arial"/>
                <a:ea typeface="Arial"/>
                <a:cs typeface="Arial"/>
              </a:defRPr>
            </a:defPPr>
          </a:lstStyle>
          <a:p xmlns:a="http://schemas.openxmlformats.org/drawingml/2006/main">
            <a:pPr algn="l">
              <a:defRPr sz="3300" b="1">
                <a:solidFill>
                  <a:srgbClr val="172D3C"/>
                </a:solidFill>
                <a:latin typeface="Arial"/>
                <a:ea typeface="Arial"/>
                <a:cs typeface="Arial"/>
              </a:defRPr>
            </a:pPr>
            <a:r>
              <a:rPr sz="3300" b="1">
                <a:solidFill>
                  <a:srgbClr val="172D3C"/>
                </a:solidFill>
                <a:latin typeface="Arial"/>
                <a:ea typeface="Arial"/>
                <a:cs typeface="Arial"/>
              </a:rPr>
              <a:t>​Analyse et l’évaluation des modèles</a:t>
            </a:r>
          </a:p>
        </p:txBody>
      </p:sp>
      <p:sp>
        <p:nvSpPr>
          <p:cNvPr id="2" name="09">
            <a:extLst xmlns:a="http://schemas.openxmlformats.org/drawingml/2006/main">
              <a:ext uri="{FF2B5EF4-FFF2-40B4-BE49-F238E27FC236}">
                <a16:creationId xmlns:a16="http://schemas.microsoft.com/office/drawing/2014/main" id="{C0B27461-B643-477E-BBFA-79B4C960A1DA}"/>
              </a:ext>
            </a:extLst>
          </p:cNvPr>
          <p:cNvSpPr>
            <a:spLocks xmlns:a="http://schemas.openxmlformats.org/drawingml/2006/main" noGrp="1"/>
          </p:cNvSpPr>
          <p:nvPr/>
        </p:nvSpPr>
        <p:spPr>
          <a:xfrm xmlns:a="http://schemas.openxmlformats.org/drawingml/2006/main">
            <a:off x="110490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16573"/>
                </a:solidFill>
                <a:latin typeface="Arial"/>
                <a:ea typeface="Arial"/>
                <a:cs typeface="Arial"/>
              </a:defRPr>
            </a:defPPr>
          </a:lstStyle>
          <a:p xmlns:a="http://schemas.openxmlformats.org/drawingml/2006/main">
            <a:pPr algn="r">
              <a:defRPr sz="1200" b="0">
                <a:solidFill>
                  <a:srgbClr val="516573"/>
                </a:solidFill>
                <a:latin typeface="Arial"/>
                <a:ea typeface="Arial"/>
                <a:cs typeface="Arial"/>
              </a:defRPr>
            </a:pPr>
            <a:r>
              <a:rPr sz="1200" b="0">
                <a:solidFill>
                  <a:srgbClr val="516573"/>
                </a:solidFill>
                <a:latin typeface="Arial"/>
                <a:ea typeface="Arial"/>
                <a:cs typeface="Arial"/>
              </a:rPr>
              <a:t>​09</a:t>
            </a:r>
          </a:p>
        </p:txBody>
      </p:sp>
      <p:sp>
        <p:nvSpPr>
          <p:cNvPr id="3" name="65 %">
            <a:extLst xmlns:a="http://schemas.openxmlformats.org/drawingml/2006/main">
              <a:ext uri="{FF2B5EF4-FFF2-40B4-BE49-F238E27FC236}">
                <a16:creationId xmlns:a16="http://schemas.microsoft.com/office/drawing/2014/main" id="{51A956ED-3C93-4F5A-8EE1-06A0539E4497}"/>
              </a:ext>
            </a:extLst>
          </p:cNvPr>
          <p:cNvSpPr>
            <a:spLocks xmlns:a="http://schemas.openxmlformats.org/drawingml/2006/main" noGrp="1"/>
          </p:cNvSpPr>
          <p:nvPr/>
        </p:nvSpPr>
        <p:spPr>
          <a:xfrm xmlns:a="http://schemas.openxmlformats.org/drawingml/2006/main">
            <a:off x="685800" y="1981200"/>
            <a:ext cx="30003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87F83"/>
                </a:solidFill>
                <a:latin typeface="Arial"/>
                <a:ea typeface="Arial"/>
                <a:cs typeface="Arial"/>
              </a:defRPr>
            </a:defPPr>
          </a:lstStyle>
          <a:p xmlns:a="http://schemas.openxmlformats.org/drawingml/2006/main">
            <a:pPr algn="l">
              <a:defRPr sz="4800" b="1">
                <a:solidFill>
                  <a:srgbClr val="087F83"/>
                </a:solidFill>
                <a:latin typeface="Arial"/>
                <a:ea typeface="Arial"/>
                <a:cs typeface="Arial"/>
              </a:defRPr>
            </a:pPr>
            <a:r>
              <a:rPr sz="4800" b="1">
                <a:solidFill>
                  <a:srgbClr val="087F83"/>
                </a:solidFill>
                <a:latin typeface="Arial"/>
                <a:ea typeface="Arial"/>
                <a:cs typeface="Arial"/>
              </a:rPr>
              <a:t>​65 %</a:t>
            </a:r>
          </a:p>
        </p:txBody>
      </p:sp>
      <p:sp>
        <p:nvSpPr>
          <p:cNvPr id="4" name="15 %">
            <a:extLst xmlns:a="http://schemas.openxmlformats.org/drawingml/2006/main">
              <a:ext uri="{FF2B5EF4-FFF2-40B4-BE49-F238E27FC236}">
                <a16:creationId xmlns:a16="http://schemas.microsoft.com/office/drawing/2014/main" id="{6C1A3256-156F-40FE-B533-56C4FC56E66A}"/>
              </a:ext>
            </a:extLst>
          </p:cNvPr>
          <p:cNvSpPr>
            <a:spLocks xmlns:a="http://schemas.openxmlformats.org/drawingml/2006/main" noGrp="1"/>
          </p:cNvSpPr>
          <p:nvPr/>
        </p:nvSpPr>
        <p:spPr>
          <a:xfrm xmlns:a="http://schemas.openxmlformats.org/drawingml/2006/main">
            <a:off x="4591050" y="1981200"/>
            <a:ext cx="30003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87F83"/>
                </a:solidFill>
                <a:latin typeface="Arial"/>
                <a:ea typeface="Arial"/>
                <a:cs typeface="Arial"/>
              </a:defRPr>
            </a:defPPr>
          </a:lstStyle>
          <a:p xmlns:a="http://schemas.openxmlformats.org/drawingml/2006/main">
            <a:pPr algn="l">
              <a:defRPr sz="4800" b="1">
                <a:solidFill>
                  <a:srgbClr val="087F83"/>
                </a:solidFill>
                <a:latin typeface="Arial"/>
                <a:ea typeface="Arial"/>
                <a:cs typeface="Arial"/>
              </a:defRPr>
            </a:pPr>
            <a:r>
              <a:rPr sz="4800" b="1">
                <a:solidFill>
                  <a:srgbClr val="087F83"/>
                </a:solidFill>
                <a:latin typeface="Arial"/>
                <a:ea typeface="Arial"/>
                <a:cs typeface="Arial"/>
              </a:rPr>
              <a:t>​15 %</a:t>
            </a:r>
          </a:p>
        </p:txBody>
      </p:sp>
      <p:sp>
        <p:nvSpPr>
          <p:cNvPr id="5" name="20 %">
            <a:extLst xmlns:a="http://schemas.openxmlformats.org/drawingml/2006/main">
              <a:ext uri="{FF2B5EF4-FFF2-40B4-BE49-F238E27FC236}">
                <a16:creationId xmlns:a16="http://schemas.microsoft.com/office/drawing/2014/main" id="{B9ABC6FA-0B91-4D04-939D-5C3C69D8D935}"/>
              </a:ext>
            </a:extLst>
          </p:cNvPr>
          <p:cNvSpPr>
            <a:spLocks xmlns:a="http://schemas.openxmlformats.org/drawingml/2006/main" noGrp="1"/>
          </p:cNvSpPr>
          <p:nvPr/>
        </p:nvSpPr>
        <p:spPr>
          <a:xfrm xmlns:a="http://schemas.openxmlformats.org/drawingml/2006/main">
            <a:off x="8496300" y="1981200"/>
            <a:ext cx="300037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087F83"/>
                </a:solidFill>
                <a:latin typeface="Arial"/>
                <a:ea typeface="Arial"/>
                <a:cs typeface="Arial"/>
              </a:defRPr>
            </a:defPPr>
          </a:lstStyle>
          <a:p xmlns:a="http://schemas.openxmlformats.org/drawingml/2006/main">
            <a:pPr algn="l">
              <a:defRPr sz="4800" b="1">
                <a:solidFill>
                  <a:srgbClr val="087F83"/>
                </a:solidFill>
                <a:latin typeface="Arial"/>
                <a:ea typeface="Arial"/>
                <a:cs typeface="Arial"/>
              </a:defRPr>
            </a:pPr>
            <a:r>
              <a:rPr sz="4800" b="1">
                <a:solidFill>
                  <a:srgbClr val="087F83"/>
                </a:solidFill>
                <a:latin typeface="Arial"/>
                <a:ea typeface="Arial"/>
                <a:cs typeface="Arial"/>
              </a:rPr>
              <a:t>​20 %</a:t>
            </a:r>
          </a:p>
        </p:txBody>
      </p:sp>
      <p:sp>
        <p:nvSpPr>
          <p:cNvPr id="6" name="Développement">
            <a:extLst xmlns:a="http://schemas.openxmlformats.org/drawingml/2006/main">
              <a:ext uri="{FF2B5EF4-FFF2-40B4-BE49-F238E27FC236}">
                <a16:creationId xmlns:a16="http://schemas.microsoft.com/office/drawing/2014/main" id="{522528BB-02E7-4138-8FBE-632825A55681}"/>
              </a:ext>
            </a:extLst>
          </p:cNvPr>
          <p:cNvSpPr>
            <a:spLocks xmlns:a="http://schemas.openxmlformats.org/drawingml/2006/main" noGrp="1"/>
          </p:cNvSpPr>
          <p:nvPr/>
        </p:nvSpPr>
        <p:spPr>
          <a:xfrm xmlns:a="http://schemas.openxmlformats.org/drawingml/2006/main">
            <a:off x="685800" y="3048000"/>
            <a:ext cx="304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​Développement</a:t>
            </a:r>
          </a:p>
        </p:txBody>
      </p:sp>
      <p:sp>
        <p:nvSpPr>
          <p:cNvPr id="7" name="Calibration">
            <a:extLst xmlns:a="http://schemas.openxmlformats.org/drawingml/2006/main">
              <a:ext uri="{FF2B5EF4-FFF2-40B4-BE49-F238E27FC236}">
                <a16:creationId xmlns:a16="http://schemas.microsoft.com/office/drawing/2014/main" id="{5700C79B-38D6-4668-B293-9ECF11A4D644}"/>
              </a:ext>
            </a:extLst>
          </p:cNvPr>
          <p:cNvSpPr>
            <a:spLocks xmlns:a="http://schemas.openxmlformats.org/drawingml/2006/main" noGrp="1"/>
          </p:cNvSpPr>
          <p:nvPr/>
        </p:nvSpPr>
        <p:spPr>
          <a:xfrm xmlns:a="http://schemas.openxmlformats.org/drawingml/2006/main">
            <a:off x="4591050" y="3048000"/>
            <a:ext cx="304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​Calibration</a:t>
            </a:r>
          </a:p>
        </p:txBody>
      </p:sp>
      <p:sp>
        <p:nvSpPr>
          <p:cNvPr id="8" name="Test final">
            <a:extLst xmlns:a="http://schemas.openxmlformats.org/drawingml/2006/main">
              <a:ext uri="{FF2B5EF4-FFF2-40B4-BE49-F238E27FC236}">
                <a16:creationId xmlns:a16="http://schemas.microsoft.com/office/drawing/2014/main" id="{C7A57F91-4AF4-4A90-B061-B0D91CC4C328}"/>
              </a:ext>
            </a:extLst>
          </p:cNvPr>
          <p:cNvSpPr>
            <a:spLocks xmlns:a="http://schemas.openxmlformats.org/drawingml/2006/main" noGrp="1"/>
          </p:cNvSpPr>
          <p:nvPr/>
        </p:nvSpPr>
        <p:spPr>
          <a:xfrm xmlns:a="http://schemas.openxmlformats.org/drawingml/2006/main">
            <a:off x="8496300" y="3048000"/>
            <a:ext cx="3048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​Test final</a:t>
            </a:r>
          </a:p>
        </p:txBody>
      </p:sp>
      <p:sp>
        <p:nvSpPr>
          <p:cNvPr id="9" name="Entraînement et&#10;validation chronologique">
            <a:extLst xmlns:a="http://schemas.openxmlformats.org/drawingml/2006/main">
              <a:ext uri="{FF2B5EF4-FFF2-40B4-BE49-F238E27FC236}">
                <a16:creationId xmlns:a16="http://schemas.microsoft.com/office/drawing/2014/main" id="{A285655C-8ED2-4ED7-9222-52E225F4009A}"/>
              </a:ext>
            </a:extLst>
          </p:cNvPr>
          <p:cNvSpPr>
            <a:spLocks xmlns:a="http://schemas.openxmlformats.org/drawingml/2006/main" noGrp="1"/>
          </p:cNvSpPr>
          <p:nvPr/>
        </p:nvSpPr>
        <p:spPr>
          <a:xfrm xmlns:a="http://schemas.openxmlformats.org/drawingml/2006/main">
            <a:off x="685800" y="3762375"/>
            <a:ext cx="300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573"/>
                </a:solidFill>
                <a:latin typeface="Arial"/>
                <a:ea typeface="Arial"/>
                <a:cs typeface="Arial"/>
              </a:defRPr>
            </a:defPPr>
          </a:lstStyle>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​Entraînement et</a:t>
            </a:r>
          </a:p>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validation chronologique</a:t>
            </a:r>
          </a:p>
        </p:txBody>
      </p:sp>
      <p:sp>
        <p:nvSpPr>
          <p:cNvPr id="10" name="Construction des&#10;intervalles de recherche">
            <a:extLst xmlns:a="http://schemas.openxmlformats.org/drawingml/2006/main">
              <a:ext uri="{FF2B5EF4-FFF2-40B4-BE49-F238E27FC236}">
                <a16:creationId xmlns:a16="http://schemas.microsoft.com/office/drawing/2014/main" id="{59EC2A4B-8AE4-4705-976C-EC53B4DE1321}"/>
              </a:ext>
            </a:extLst>
          </p:cNvPr>
          <p:cNvSpPr>
            <a:spLocks xmlns:a="http://schemas.openxmlformats.org/drawingml/2006/main" noGrp="1"/>
          </p:cNvSpPr>
          <p:nvPr/>
        </p:nvSpPr>
        <p:spPr>
          <a:xfrm xmlns:a="http://schemas.openxmlformats.org/drawingml/2006/main">
            <a:off x="4591050" y="3762375"/>
            <a:ext cx="300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573"/>
                </a:solidFill>
                <a:latin typeface="Arial"/>
                <a:ea typeface="Arial"/>
                <a:cs typeface="Arial"/>
              </a:defRPr>
            </a:defPPr>
          </a:lstStyle>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​Construction des</a:t>
            </a:r>
          </a:p>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intervalles de recherche</a:t>
            </a:r>
          </a:p>
        </p:txBody>
      </p:sp>
      <p:sp>
        <p:nvSpPr>
          <p:cNvPr id="11" name="Évaluation sur les&#10;dates les plus récentes">
            <a:extLst xmlns:a="http://schemas.openxmlformats.org/drawingml/2006/main">
              <a:ext uri="{FF2B5EF4-FFF2-40B4-BE49-F238E27FC236}">
                <a16:creationId xmlns:a16="http://schemas.microsoft.com/office/drawing/2014/main" id="{E8D2976E-5D73-45BE-A02E-BCD85D9AEC56}"/>
              </a:ext>
            </a:extLst>
          </p:cNvPr>
          <p:cNvSpPr>
            <a:spLocks xmlns:a="http://schemas.openxmlformats.org/drawingml/2006/main" noGrp="1"/>
          </p:cNvSpPr>
          <p:nvPr/>
        </p:nvSpPr>
        <p:spPr>
          <a:xfrm xmlns:a="http://schemas.openxmlformats.org/drawingml/2006/main">
            <a:off x="8496300" y="3762375"/>
            <a:ext cx="300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16573"/>
                </a:solidFill>
                <a:latin typeface="Arial"/>
                <a:ea typeface="Arial"/>
                <a:cs typeface="Arial"/>
              </a:defRPr>
            </a:defPPr>
          </a:lstStyle>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​Évaluation sur les</a:t>
            </a:r>
          </a:p>
          <a:p xmlns:a="http://schemas.openxmlformats.org/drawingml/2006/main">
            <a:pPr algn="l">
              <a:defRPr sz="1875" b="0">
                <a:solidFill>
                  <a:srgbClr val="516573"/>
                </a:solidFill>
                <a:latin typeface="Arial"/>
                <a:ea typeface="Arial"/>
                <a:cs typeface="Arial"/>
              </a:defRPr>
            </a:pPr>
            <a:r>
              <a:rPr sz="1875" b="0">
                <a:solidFill>
                  <a:srgbClr val="516573"/>
                </a:solidFill>
                <a:latin typeface="Arial"/>
                <a:ea typeface="Arial"/>
                <a:cs typeface="Arial"/>
              </a:rPr>
              <a:t>dates les plus récentes</a:t>
            </a:r>
          </a:p>
        </p:txBody>
      </p:sp>
      <p:sp>
        <p:nvSpPr>
          <p:cNvPr id="12" name="L’ordre du temps reste intact : chaque prévis">
            <a:extLst xmlns:a="http://schemas.openxmlformats.org/drawingml/2006/main">
              <a:ext uri="{FF2B5EF4-FFF2-40B4-BE49-F238E27FC236}">
                <a16:creationId xmlns:a16="http://schemas.microsoft.com/office/drawing/2014/main" id="{CFF57D82-9E74-43D3-8093-2E996B66022B}"/>
              </a:ext>
            </a:extLst>
          </p:cNvPr>
          <p:cNvSpPr>
            <a:spLocks xmlns:a="http://schemas.openxmlformats.org/drawingml/2006/main" noGrp="1"/>
          </p:cNvSpPr>
          <p:nvPr/>
        </p:nvSpPr>
        <p:spPr>
          <a:xfrm xmlns:a="http://schemas.openxmlformats.org/drawingml/2006/main">
            <a:off x="685800" y="52863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72D3C"/>
                </a:solidFill>
                <a:latin typeface="Arial"/>
                <a:ea typeface="Arial"/>
                <a:cs typeface="Arial"/>
              </a:defRPr>
            </a:defPPr>
          </a:lstStyle>
          <a:p xmlns:a="http://schemas.openxmlformats.org/drawingml/2006/main">
            <a:pPr algn="l">
              <a:defRPr sz="2175" b="0">
                <a:solidFill>
                  <a:srgbClr val="172D3C"/>
                </a:solidFill>
                <a:latin typeface="Arial"/>
                <a:ea typeface="Arial"/>
                <a:cs typeface="Arial"/>
              </a:defRPr>
            </a:pPr>
            <a:r>
              <a:rPr sz="2175" b="0">
                <a:solidFill>
                  <a:srgbClr val="172D3C"/>
                </a:solidFill>
                <a:latin typeface="Arial"/>
                <a:ea typeface="Arial"/>
                <a:cs typeface="Arial"/>
              </a:rPr>
              <a:t>​L’ordre du temps reste intact : chaque prévision utilise</a:t>
            </a:r>
          </a:p>
          <a:p xmlns:a="http://schemas.openxmlformats.org/drawingml/2006/main">
            <a:pPr algn="l">
              <a:defRPr sz="2175" b="0">
                <a:solidFill>
                  <a:srgbClr val="172D3C"/>
                </a:solidFill>
                <a:latin typeface="Arial"/>
                <a:ea typeface="Arial"/>
                <a:cs typeface="Arial"/>
              </a:defRPr>
            </a:pPr>
            <a:r>
              <a:rPr sz="2175" b="0">
                <a:solidFill>
                  <a:srgbClr val="172D3C"/>
                </a:solidFill>
                <a:latin typeface="Arial"/>
                <a:ea typeface="Arial"/>
                <a:cs typeface="Arial"/>
              </a:rPr>
              <a:t>uniquement les informations antérieures.</a:t>
            </a:r>
          </a:p>
        </p:txBody>
      </p:sp>
    </p:spTree>
    <p:extLst>
      <p:ext uri="{BB962C8B-B14F-4D97-AF65-F5344CB8AC3E}">
        <p14:creationId xmlns:p14="http://schemas.microsoft.com/office/powerpoint/2010/main" val="1546697284"/>
      </p:ext>
    </p:extLst>
  </p:cSld>
</p:sld>
</file>

<file path=ppt/slides/slide10.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8" name="Résultats de la recherche">
            <a:extLst xmlns:a="http://schemas.openxmlformats.org/drawingml/2006/main">
              <a:ext uri="{FF2B5EF4-FFF2-40B4-BE49-F238E27FC236}">
                <a16:creationId xmlns:a16="http://schemas.microsoft.com/office/drawing/2014/main" id="{5A2AA018-4161-40D4-A51F-74637BFFDE30}"/>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3C"/>
                </a:solidFill>
                <a:latin typeface="Arial"/>
                <a:ea typeface="Arial"/>
                <a:cs typeface="Arial"/>
              </a:defRPr>
            </a:defPPr>
          </a:lstStyle>
          <a:p xmlns:a="http://schemas.openxmlformats.org/drawingml/2006/main">
            <a:pPr algn="l">
              <a:defRPr sz="3300" b="1">
                <a:solidFill>
                  <a:srgbClr val="172D3C"/>
                </a:solidFill>
                <a:latin typeface="Arial"/>
                <a:ea typeface="Arial"/>
                <a:cs typeface="Arial"/>
              </a:defRPr>
            </a:pPr>
            <a:r>
              <a:rPr sz="3300" b="1">
                <a:solidFill>
                  <a:srgbClr val="172D3C"/>
                </a:solidFill>
                <a:latin typeface="Arial"/>
                <a:ea typeface="Arial"/>
                <a:cs typeface="Arial"/>
              </a:rPr>
              <a:t>​Résultats de la recherche</a:t>
            </a:r>
          </a:p>
        </p:txBody>
      </p:sp>
      <p:sp>
        <p:nvSpPr>
          <p:cNvPr id="2" name="10">
            <a:extLst xmlns:a="http://schemas.openxmlformats.org/drawingml/2006/main">
              <a:ext uri="{FF2B5EF4-FFF2-40B4-BE49-F238E27FC236}">
                <a16:creationId xmlns:a16="http://schemas.microsoft.com/office/drawing/2014/main" id="{AE85B15F-9233-4280-9598-54F6A8CA80F6}"/>
              </a:ext>
            </a:extLst>
          </p:cNvPr>
          <p:cNvSpPr>
            <a:spLocks xmlns:a="http://schemas.openxmlformats.org/drawingml/2006/main" noGrp="1"/>
          </p:cNvSpPr>
          <p:nvPr/>
        </p:nvSpPr>
        <p:spPr>
          <a:xfrm xmlns:a="http://schemas.openxmlformats.org/drawingml/2006/main">
            <a:off x="110490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16573"/>
                </a:solidFill>
                <a:latin typeface="Arial"/>
                <a:ea typeface="Arial"/>
                <a:cs typeface="Arial"/>
              </a:defRPr>
            </a:defPPr>
          </a:lstStyle>
          <a:p xmlns:a="http://schemas.openxmlformats.org/drawingml/2006/main">
            <a:pPr algn="r">
              <a:defRPr sz="1200" b="0">
                <a:solidFill>
                  <a:srgbClr val="516573"/>
                </a:solidFill>
                <a:latin typeface="Arial"/>
                <a:ea typeface="Arial"/>
                <a:cs typeface="Arial"/>
              </a:defRPr>
            </a:pPr>
            <a:r>
              <a:rPr sz="1200" b="0">
                <a:solidFill>
                  <a:srgbClr val="516573"/>
                </a:solidFill>
                <a:latin typeface="Arial"/>
                <a:ea typeface="Arial"/>
                <a:cs typeface="Arial"/>
              </a:rPr>
              <a:t>​10</a:t>
            </a:r>
          </a:p>
        </p:txBody>
      </p:sp>
      <p:sp>
        <p:nvSpPr>
          <p:cNvPr id="3" name="La persistance reste le modèle sélectionné su">
            <a:extLst xmlns:a="http://schemas.openxmlformats.org/drawingml/2006/main">
              <a:ext uri="{FF2B5EF4-FFF2-40B4-BE49-F238E27FC236}">
                <a16:creationId xmlns:a16="http://schemas.microsoft.com/office/drawing/2014/main" id="{4B923E7C-7CB3-41C6-9DD2-DBA989B92488}"/>
              </a:ext>
            </a:extLst>
          </p:cNvPr>
          <p:cNvSpPr>
            <a:spLocks xmlns:a="http://schemas.openxmlformats.org/drawingml/2006/main" noGrp="1"/>
          </p:cNvSpPr>
          <p:nvPr/>
        </p:nvSpPr>
        <p:spPr>
          <a:xfrm xmlns:a="http://schemas.openxmlformats.org/drawingml/2006/main">
            <a:off x="685800" y="153352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F83"/>
                </a:solidFill>
                <a:latin typeface="Arial"/>
                <a:ea typeface="Arial"/>
                <a:cs typeface="Arial"/>
              </a:defRPr>
            </a:defPPr>
          </a:lstStyle>
          <a:p xmlns:a="http://schemas.openxmlformats.org/drawingml/2006/main">
            <a:pPr algn="l">
              <a:defRPr sz="2025" b="1">
                <a:solidFill>
                  <a:srgbClr val="087F83"/>
                </a:solidFill>
                <a:latin typeface="Arial"/>
                <a:ea typeface="Arial"/>
                <a:cs typeface="Arial"/>
              </a:defRPr>
            </a:pPr>
            <a:r>
              <a:rPr sz="2025" b="1">
                <a:solidFill>
                  <a:srgbClr val="087F83"/>
                </a:solidFill>
                <a:latin typeface="Arial"/>
                <a:ea typeface="Arial"/>
                <a:cs typeface="Arial"/>
              </a:rPr>
              <a:t>​La persistance reste le modèle sélectionné sur les données fournies.</a:t>
            </a:r>
          </a:p>
        </p:txBody>
      </p:sp>
      <p:graphicFrame>
        <p:nvGraphicFramePr>
          <p:cNvPr id="4" name="Chart">
            <a:extLst xmlns:a="http://schemas.openxmlformats.org/drawingml/2006/main">
              <a:ext uri="{FF2B5EF4-FFF2-40B4-BE49-F238E27FC236}">
                <a16:creationId xmlns:a16="http://schemas.microsoft.com/office/drawing/2014/main" id="{26135A7B-D1C2-432E-B5ED-F444068C7FC0}"/>
              </a:ext>
            </a:extLst>
          </p:cNvPr>
          <p:cNvGraphicFramePr/>
          <p:nvPr/>
        </p:nvGraphicFramePr>
        <p:xfrm>
          <a:off xmlns:a="http://schemas.openxmlformats.org/drawingml/2006/main" x="619125" y="2286000"/>
          <a:ext xmlns:a="http://schemas.openxmlformats.org/drawingml/2006/main" cx="5095875" cy="3133725"/>
        </p:xfrm>
        <a:graphic xmlns:a="http://schemas.openxmlformats.org/drawingml/2006/main">
          <a:graphicData uri="http://schemas.openxmlformats.org/drawingml/2006/chart">
            <c:chart xmlns:r="http://schemas.openxmlformats.org/officeDocument/2006/relationships" xmlns:c="http://schemas.openxmlformats.org/drawingml/2006/chart" r:id="R405da2d552c34680"/>
          </a:graphicData>
        </a:graphic>
      </p:graphicFrame>
      <p:graphicFrame>
        <p:nvGraphicFramePr>
          <p:cNvPr id="5" name="Chart">
            <a:extLst xmlns:a="http://schemas.openxmlformats.org/drawingml/2006/main">
              <a:ext uri="{FF2B5EF4-FFF2-40B4-BE49-F238E27FC236}">
                <a16:creationId xmlns:a16="http://schemas.microsoft.com/office/drawing/2014/main" id="{7830780C-248F-42EF-8E86-2EA0113DCF68}"/>
              </a:ext>
            </a:extLst>
          </p:cNvPr>
          <p:cNvGraphicFramePr/>
          <p:nvPr/>
        </p:nvGraphicFramePr>
        <p:xfrm>
          <a:off xmlns:a="http://schemas.openxmlformats.org/drawingml/2006/main" x="6429375" y="2286000"/>
          <a:ext xmlns:a="http://schemas.openxmlformats.org/drawingml/2006/main" cx="5095875" cy="3133725"/>
        </p:xfrm>
        <a:graphic xmlns:a="http://schemas.openxmlformats.org/drawingml/2006/main">
          <a:graphicData uri="http://schemas.openxmlformats.org/drawingml/2006/chart">
            <c:chart xmlns:r="http://schemas.openxmlformats.org/officeDocument/2006/relationships" xmlns:c="http://schemas.openxmlformats.org/drawingml/2006/chart" r:id="Ra444e9d3530c43c3"/>
          </a:graphicData>
        </a:graphic>
      </p:graphicFrame>
      <p:sp>
        <p:nvSpPr>
          <p:cNvPr id="6" name="MAE : écart absolu moyen entre le prix prévu ">
            <a:extLst xmlns:a="http://schemas.openxmlformats.org/drawingml/2006/main">
              <a:ext uri="{FF2B5EF4-FFF2-40B4-BE49-F238E27FC236}">
                <a16:creationId xmlns:a16="http://schemas.microsoft.com/office/drawing/2014/main" id="{D92E7C6D-FE0A-4688-8619-DB9BDE54B03D}"/>
              </a:ext>
            </a:extLst>
          </p:cNvPr>
          <p:cNvSpPr>
            <a:spLocks xmlns:a="http://schemas.openxmlformats.org/drawingml/2006/main" noGrp="1"/>
          </p:cNvSpPr>
          <p:nvPr/>
        </p:nvSpPr>
        <p:spPr>
          <a:xfrm xmlns:a="http://schemas.openxmlformats.org/drawingml/2006/main">
            <a:off x="685800" y="56673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16573"/>
                </a:solidFill>
                <a:latin typeface="Arial"/>
                <a:ea typeface="Arial"/>
                <a:cs typeface="Arial"/>
              </a:defRPr>
            </a:defPPr>
          </a:lstStyle>
          <a:p xmlns:a="http://schemas.openxmlformats.org/drawingml/2006/main">
            <a:pPr algn="l">
              <a:defRPr sz="1800" b="0">
                <a:solidFill>
                  <a:srgbClr val="516573"/>
                </a:solidFill>
                <a:latin typeface="Arial"/>
                <a:ea typeface="Arial"/>
                <a:cs typeface="Arial"/>
              </a:defRPr>
            </a:pPr>
            <a:r>
              <a:rPr sz="1800" b="0">
                <a:solidFill>
                  <a:srgbClr val="516573"/>
                </a:solidFill>
                <a:latin typeface="Arial"/>
                <a:ea typeface="Arial"/>
                <a:cs typeface="Arial"/>
              </a:rPr>
              <a:t>​MAE : écart absolu moyen entre le prix prévu et le prix observé.</a:t>
            </a:r>
          </a:p>
        </p:txBody>
      </p:sp>
      <p:sp>
        <p:nvSpPr>
          <p:cNvPr id="7" name="Données historiques : septembre 2021 à septem">
            <a:extLst xmlns:a="http://schemas.openxmlformats.org/drawingml/2006/main">
              <a:ext uri="{FF2B5EF4-FFF2-40B4-BE49-F238E27FC236}">
                <a16:creationId xmlns:a16="http://schemas.microsoft.com/office/drawing/2014/main" id="{D7371DEE-E2F2-483B-8873-2868237AF821}"/>
              </a:ext>
            </a:extLst>
          </p:cNvPr>
          <p:cNvSpPr>
            <a:spLocks xmlns:a="http://schemas.openxmlformats.org/drawingml/2006/main" noGrp="1"/>
          </p:cNvSpPr>
          <p:nvPr/>
        </p:nvSpPr>
        <p:spPr>
          <a:xfrm xmlns:a="http://schemas.openxmlformats.org/drawingml/2006/main">
            <a:off x="685800" y="6096000"/>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16573"/>
                </a:solidFill>
                <a:latin typeface="Arial"/>
                <a:ea typeface="Arial"/>
                <a:cs typeface="Arial"/>
              </a:defRPr>
            </a:defPPr>
          </a:lstStyle>
          <a:p xmlns:a="http://schemas.openxmlformats.org/drawingml/2006/main">
            <a:pPr algn="l">
              <a:defRPr sz="1350" b="0">
                <a:solidFill>
                  <a:srgbClr val="516573"/>
                </a:solidFill>
                <a:latin typeface="Arial"/>
                <a:ea typeface="Arial"/>
                <a:cs typeface="Arial"/>
              </a:defRPr>
            </a:pPr>
            <a:r>
              <a:rPr sz="1350" b="0">
                <a:solidFill>
                  <a:srgbClr val="516573"/>
                </a:solidFill>
                <a:latin typeface="Arial"/>
                <a:ea typeface="Arial"/>
                <a:cs typeface="Arial"/>
              </a:rPr>
              <a:t>​Données historiques : septembre 2021 à septembre 2026. Résultats du test final.</a:t>
            </a:r>
          </a:p>
        </p:txBody>
      </p:sp>
    </p:spTree>
    <p:extLst>
      <p:ext uri="{BB962C8B-B14F-4D97-AF65-F5344CB8AC3E}">
        <p14:creationId xmlns:p14="http://schemas.microsoft.com/office/powerpoint/2010/main" val="1187886456"/>
      </p:ext>
    </p:extLst>
  </p:cSld>
</p:sld>
</file>

<file path=ppt/slides/slide11.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0" name="Bitume : une analyse mensuelle séparée">
            <a:extLst xmlns:a="http://schemas.openxmlformats.org/drawingml/2006/main">
              <a:ext uri="{FF2B5EF4-FFF2-40B4-BE49-F238E27FC236}">
                <a16:creationId xmlns:a16="http://schemas.microsoft.com/office/drawing/2014/main" id="{FB8E1871-EB59-4FFB-B91C-2BCC93B23C2A}"/>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3C"/>
                </a:solidFill>
                <a:latin typeface="Arial"/>
                <a:ea typeface="Arial"/>
                <a:cs typeface="Arial"/>
              </a:defRPr>
            </a:defPPr>
          </a:lstStyle>
          <a:p xmlns:a="http://schemas.openxmlformats.org/drawingml/2006/main">
            <a:pPr algn="l">
              <a:defRPr sz="3300" b="1">
                <a:solidFill>
                  <a:srgbClr val="172D3C"/>
                </a:solidFill>
                <a:latin typeface="Arial"/>
                <a:ea typeface="Arial"/>
                <a:cs typeface="Arial"/>
              </a:defRPr>
            </a:pPr>
            <a:r>
              <a:rPr sz="3300" b="1">
                <a:solidFill>
                  <a:srgbClr val="172D3C"/>
                </a:solidFill>
                <a:latin typeface="Arial"/>
                <a:ea typeface="Arial"/>
                <a:cs typeface="Arial"/>
              </a:rPr>
              <a:t>​Bitume : une analyse mensuelle séparée</a:t>
            </a:r>
          </a:p>
        </p:txBody>
      </p:sp>
      <p:sp>
        <p:nvSpPr>
          <p:cNvPr id="2" name="11">
            <a:extLst xmlns:a="http://schemas.openxmlformats.org/drawingml/2006/main">
              <a:ext uri="{FF2B5EF4-FFF2-40B4-BE49-F238E27FC236}">
                <a16:creationId xmlns:a16="http://schemas.microsoft.com/office/drawing/2014/main" id="{7C4086F7-2078-4C69-B1A6-A10AB716B5E8}"/>
              </a:ext>
            </a:extLst>
          </p:cNvPr>
          <p:cNvSpPr>
            <a:spLocks xmlns:a="http://schemas.openxmlformats.org/drawingml/2006/main" noGrp="1"/>
          </p:cNvSpPr>
          <p:nvPr/>
        </p:nvSpPr>
        <p:spPr>
          <a:xfrm xmlns:a="http://schemas.openxmlformats.org/drawingml/2006/main">
            <a:off x="110490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16573"/>
                </a:solidFill>
                <a:latin typeface="Arial"/>
                <a:ea typeface="Arial"/>
                <a:cs typeface="Arial"/>
              </a:defRPr>
            </a:defPPr>
          </a:lstStyle>
          <a:p xmlns:a="http://schemas.openxmlformats.org/drawingml/2006/main">
            <a:pPr algn="r">
              <a:defRPr sz="1200" b="0">
                <a:solidFill>
                  <a:srgbClr val="516573"/>
                </a:solidFill>
                <a:latin typeface="Arial"/>
                <a:ea typeface="Arial"/>
                <a:cs typeface="Arial"/>
              </a:defRPr>
            </a:pPr>
            <a:r>
              <a:rPr sz="1200" b="0">
                <a:solidFill>
                  <a:srgbClr val="516573"/>
                </a:solidFill>
                <a:latin typeface="Arial"/>
                <a:ea typeface="Arial"/>
                <a:cs typeface="Arial"/>
              </a:rPr>
              <a:t>​11</a:t>
            </a:r>
          </a:p>
        </p:txBody>
      </p:sp>
      <p:graphicFrame>
        <p:nvGraphicFramePr>
          <p:cNvPr id="3" name="Chart">
            <a:extLst xmlns:a="http://schemas.openxmlformats.org/drawingml/2006/main">
              <a:ext uri="{FF2B5EF4-FFF2-40B4-BE49-F238E27FC236}">
                <a16:creationId xmlns:a16="http://schemas.microsoft.com/office/drawing/2014/main" id="{F57B1B15-1CDC-49A3-9FD6-4E22180C1EE5}"/>
              </a:ext>
            </a:extLst>
          </p:cNvPr>
          <p:cNvGraphicFramePr/>
          <p:nvPr/>
        </p:nvGraphicFramePr>
        <p:xfrm>
          <a:off xmlns:a="http://schemas.openxmlformats.org/drawingml/2006/main" x="619125" y="2009775"/>
          <a:ext xmlns:a="http://schemas.openxmlformats.org/drawingml/2006/main" cx="7239000" cy="3400425"/>
        </p:xfrm>
        <a:graphic xmlns:a="http://schemas.openxmlformats.org/drawingml/2006/main">
          <a:graphicData uri="http://schemas.openxmlformats.org/drawingml/2006/chart">
            <c:chart xmlns:r="http://schemas.openxmlformats.org/officeDocument/2006/relationships" xmlns:c="http://schemas.openxmlformats.org/drawingml/2006/chart" r:id="Rc085750042e644f9"/>
          </a:graphicData>
        </a:graphic>
      </p:graphicFrame>
      <p:sp>
        <p:nvSpPr>
          <p:cNvPr id="4" name="60 mois observés">
            <a:extLst xmlns:a="http://schemas.openxmlformats.org/drawingml/2006/main">
              <a:ext uri="{FF2B5EF4-FFF2-40B4-BE49-F238E27FC236}">
                <a16:creationId xmlns:a16="http://schemas.microsoft.com/office/drawing/2014/main" id="{68BB3F8C-0ECE-4F95-B65D-847490BCC941}"/>
              </a:ext>
            </a:extLst>
          </p:cNvPr>
          <p:cNvSpPr>
            <a:spLocks xmlns:a="http://schemas.openxmlformats.org/drawingml/2006/main" noGrp="1"/>
          </p:cNvSpPr>
          <p:nvPr/>
        </p:nvSpPr>
        <p:spPr>
          <a:xfrm xmlns:a="http://schemas.openxmlformats.org/drawingml/2006/main">
            <a:off x="8429625" y="2209800"/>
            <a:ext cx="3095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087F83"/>
                </a:solidFill>
                <a:latin typeface="Arial"/>
                <a:ea typeface="Arial"/>
                <a:cs typeface="Arial"/>
              </a:defRPr>
            </a:defPPr>
          </a:lstStyle>
          <a:p xmlns:a="http://schemas.openxmlformats.org/drawingml/2006/main">
            <a:pPr algn="l">
              <a:defRPr sz="2550" b="1">
                <a:solidFill>
                  <a:srgbClr val="087F83"/>
                </a:solidFill>
                <a:latin typeface="Arial"/>
                <a:ea typeface="Arial"/>
                <a:cs typeface="Arial"/>
              </a:defRPr>
            </a:pPr>
            <a:r>
              <a:rPr sz="2550" b="1">
                <a:solidFill>
                  <a:srgbClr val="087F83"/>
                </a:solidFill>
                <a:latin typeface="Arial"/>
                <a:ea typeface="Arial"/>
                <a:cs typeface="Arial"/>
              </a:rPr>
              <a:t>​60 mois observés</a:t>
            </a:r>
          </a:p>
        </p:txBody>
      </p:sp>
      <p:sp>
        <p:nvSpPr>
          <p:cNvPr id="5" name="Aucun mois manquant&#10;dans le fichier livré.">
            <a:extLst xmlns:a="http://schemas.openxmlformats.org/drawingml/2006/main">
              <a:ext uri="{FF2B5EF4-FFF2-40B4-BE49-F238E27FC236}">
                <a16:creationId xmlns:a16="http://schemas.microsoft.com/office/drawing/2014/main" id="{D614772B-FC59-4267-B66B-055CE8846996}"/>
              </a:ext>
            </a:extLst>
          </p:cNvPr>
          <p:cNvSpPr>
            <a:spLocks xmlns:a="http://schemas.openxmlformats.org/drawingml/2006/main" noGrp="1"/>
          </p:cNvSpPr>
          <p:nvPr/>
        </p:nvSpPr>
        <p:spPr>
          <a:xfrm xmlns:a="http://schemas.openxmlformats.org/drawingml/2006/main">
            <a:off x="8429625" y="3000375"/>
            <a:ext cx="3095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16573"/>
                </a:solidFill>
                <a:latin typeface="Arial"/>
                <a:ea typeface="Arial"/>
                <a:cs typeface="Arial"/>
              </a:defRPr>
            </a:defPPr>
          </a:lstStyle>
          <a:p xmlns:a="http://schemas.openxmlformats.org/drawingml/2006/main">
            <a:pPr algn="l">
              <a:defRPr sz="2025" b="0">
                <a:solidFill>
                  <a:srgbClr val="516573"/>
                </a:solidFill>
                <a:latin typeface="Arial"/>
                <a:ea typeface="Arial"/>
                <a:cs typeface="Arial"/>
              </a:defRPr>
            </a:pPr>
            <a:r>
              <a:rPr sz="2025" b="0">
                <a:solidFill>
                  <a:srgbClr val="516573"/>
                </a:solidFill>
                <a:latin typeface="Arial"/>
                <a:ea typeface="Arial"/>
                <a:cs typeface="Arial"/>
              </a:rPr>
              <a:t>​Aucun mois manquant</a:t>
            </a:r>
          </a:p>
          <a:p xmlns:a="http://schemas.openxmlformats.org/drawingml/2006/main">
            <a:pPr algn="l">
              <a:defRPr sz="2025" b="0">
                <a:solidFill>
                  <a:srgbClr val="516573"/>
                </a:solidFill>
                <a:latin typeface="Arial"/>
                <a:ea typeface="Arial"/>
                <a:cs typeface="Arial"/>
              </a:defRPr>
            </a:pPr>
            <a:r>
              <a:rPr sz="2025" b="0">
                <a:solidFill>
                  <a:srgbClr val="516573"/>
                </a:solidFill>
                <a:latin typeface="Arial"/>
                <a:ea typeface="Arial"/>
                <a:cs typeface="Arial"/>
              </a:rPr>
              <a:t>dans le fichier livré.</a:t>
            </a:r>
          </a:p>
        </p:txBody>
      </p:sp>
      <p:sp>
        <p:nvSpPr>
          <p:cNvPr id="6" name="Indice de tendance&#10;pour les États-Unis">
            <a:extLst xmlns:a="http://schemas.openxmlformats.org/drawingml/2006/main">
              <a:ext uri="{FF2B5EF4-FFF2-40B4-BE49-F238E27FC236}">
                <a16:creationId xmlns:a16="http://schemas.microsoft.com/office/drawing/2014/main" id="{1B008FE7-0462-4318-BFF0-21B3F745947F}"/>
              </a:ext>
            </a:extLst>
          </p:cNvPr>
          <p:cNvSpPr>
            <a:spLocks xmlns:a="http://schemas.openxmlformats.org/drawingml/2006/main" noGrp="1"/>
          </p:cNvSpPr>
          <p:nvPr/>
        </p:nvSpPr>
        <p:spPr>
          <a:xfrm xmlns:a="http://schemas.openxmlformats.org/drawingml/2006/main">
            <a:off x="8429625" y="4276725"/>
            <a:ext cx="30956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D3C"/>
                </a:solidFill>
                <a:latin typeface="Arial"/>
                <a:ea typeface="Arial"/>
                <a:cs typeface="Arial"/>
              </a:defRPr>
            </a:defPPr>
          </a:lstStyle>
          <a:p xmlns:a="http://schemas.openxmlformats.org/drawingml/2006/main">
            <a:pPr algn="l">
              <a:defRPr sz="2025" b="1">
                <a:solidFill>
                  <a:srgbClr val="172D3C"/>
                </a:solidFill>
                <a:latin typeface="Arial"/>
                <a:ea typeface="Arial"/>
                <a:cs typeface="Arial"/>
              </a:defRPr>
            </a:pPr>
            <a:r>
              <a:rPr sz="2025" b="1">
                <a:solidFill>
                  <a:srgbClr val="172D3C"/>
                </a:solidFill>
                <a:latin typeface="Arial"/>
                <a:ea typeface="Arial"/>
                <a:cs typeface="Arial"/>
              </a:rPr>
              <a:t>​Indice de tendance</a:t>
            </a:r>
          </a:p>
          <a:p xmlns:a="http://schemas.openxmlformats.org/drawingml/2006/main">
            <a:pPr algn="l">
              <a:defRPr sz="2025" b="1">
                <a:solidFill>
                  <a:srgbClr val="172D3C"/>
                </a:solidFill>
                <a:latin typeface="Arial"/>
                <a:ea typeface="Arial"/>
                <a:cs typeface="Arial"/>
              </a:defRPr>
            </a:pPr>
            <a:r>
              <a:rPr sz="2025" b="1">
                <a:solidFill>
                  <a:srgbClr val="172D3C"/>
                </a:solidFill>
                <a:latin typeface="Arial"/>
                <a:ea typeface="Arial"/>
                <a:cs typeface="Arial"/>
              </a:rPr>
              <a:t>pour les États-Unis</a:t>
            </a:r>
          </a:p>
        </p:txBody>
      </p:sp>
      <p:sp>
        <p:nvSpPr>
          <p:cNvPr id="7" name="Septembre 2021">
            <a:extLst xmlns:a="http://schemas.openxmlformats.org/drawingml/2006/main">
              <a:ext uri="{FF2B5EF4-FFF2-40B4-BE49-F238E27FC236}">
                <a16:creationId xmlns:a16="http://schemas.microsoft.com/office/drawing/2014/main" id="{9C0F5000-CF4A-46EE-B9A8-0F219EB667E8}"/>
              </a:ext>
            </a:extLst>
          </p:cNvPr>
          <p:cNvSpPr>
            <a:spLocks xmlns:a="http://schemas.openxmlformats.org/drawingml/2006/main" noGrp="1"/>
          </p:cNvSpPr>
          <p:nvPr/>
        </p:nvSpPr>
        <p:spPr>
          <a:xfrm xmlns:a="http://schemas.openxmlformats.org/drawingml/2006/main">
            <a:off x="895350" y="5543550"/>
            <a:ext cx="342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16573"/>
                </a:solidFill>
                <a:latin typeface="Arial"/>
                <a:ea typeface="Arial"/>
                <a:cs typeface="Arial"/>
              </a:defRPr>
            </a:defPPr>
          </a:lstStyle>
          <a:p xmlns:a="http://schemas.openxmlformats.org/drawingml/2006/main">
            <a:pPr algn="l">
              <a:defRPr sz="1575" b="0">
                <a:solidFill>
                  <a:srgbClr val="516573"/>
                </a:solidFill>
                <a:latin typeface="Arial"/>
                <a:ea typeface="Arial"/>
                <a:cs typeface="Arial"/>
              </a:defRPr>
            </a:pPr>
            <a:r>
              <a:rPr sz="1575" b="0">
                <a:solidFill>
                  <a:srgbClr val="516573"/>
                </a:solidFill>
                <a:latin typeface="Arial"/>
                <a:ea typeface="Arial"/>
                <a:cs typeface="Arial"/>
              </a:rPr>
              <a:t>​Septembre 2021</a:t>
            </a:r>
          </a:p>
        </p:txBody>
      </p:sp>
      <p:sp>
        <p:nvSpPr>
          <p:cNvPr id="8" name="Août 2026">
            <a:extLst xmlns:a="http://schemas.openxmlformats.org/drawingml/2006/main">
              <a:ext uri="{FF2B5EF4-FFF2-40B4-BE49-F238E27FC236}">
                <a16:creationId xmlns:a16="http://schemas.microsoft.com/office/drawing/2014/main" id="{D5F6E114-3C4C-4F9B-A960-1F61674B5EC9}"/>
              </a:ext>
            </a:extLst>
          </p:cNvPr>
          <p:cNvSpPr>
            <a:spLocks xmlns:a="http://schemas.openxmlformats.org/drawingml/2006/main" noGrp="1"/>
          </p:cNvSpPr>
          <p:nvPr/>
        </p:nvSpPr>
        <p:spPr>
          <a:xfrm xmlns:a="http://schemas.openxmlformats.org/drawingml/2006/main">
            <a:off x="5648325" y="5543550"/>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0">
                <a:solidFill>
                  <a:srgbClr val="516573"/>
                </a:solidFill>
                <a:latin typeface="Arial"/>
                <a:ea typeface="Arial"/>
                <a:cs typeface="Arial"/>
              </a:defRPr>
            </a:defPPr>
          </a:lstStyle>
          <a:p xmlns:a="http://schemas.openxmlformats.org/drawingml/2006/main">
            <a:pPr algn="r">
              <a:defRPr sz="1575" b="0">
                <a:solidFill>
                  <a:srgbClr val="516573"/>
                </a:solidFill>
                <a:latin typeface="Arial"/>
                <a:ea typeface="Arial"/>
                <a:cs typeface="Arial"/>
              </a:defRPr>
            </a:pPr>
            <a:r>
              <a:rPr sz="1575" b="0">
                <a:solidFill>
                  <a:srgbClr val="516573"/>
                </a:solidFill>
                <a:latin typeface="Arial"/>
                <a:ea typeface="Arial"/>
                <a:cs typeface="Arial"/>
              </a:rPr>
              <a:t>​Août 2026</a:t>
            </a:r>
          </a:p>
        </p:txBody>
      </p:sp>
      <p:sp>
        <p:nvSpPr>
          <p:cNvPr id="9" name="BLS / FRED WPU058. Unité : indice, décembre 1">
            <a:extLst xmlns:a="http://schemas.openxmlformats.org/drawingml/2006/main">
              <a:ext uri="{FF2B5EF4-FFF2-40B4-BE49-F238E27FC236}">
                <a16:creationId xmlns:a16="http://schemas.microsoft.com/office/drawing/2014/main" id="{D96D59F7-D844-4F8A-9F5F-3A2A94FC0928}"/>
              </a:ext>
            </a:extLst>
          </p:cNvPr>
          <p:cNvSpPr>
            <a:spLocks xmlns:a="http://schemas.openxmlformats.org/drawingml/2006/main" noGrp="1"/>
          </p:cNvSpPr>
          <p:nvPr/>
        </p:nvSpPr>
        <p:spPr>
          <a:xfrm xmlns:a="http://schemas.openxmlformats.org/drawingml/2006/main">
            <a:off x="685800" y="6029325"/>
            <a:ext cx="1019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16573"/>
                </a:solidFill>
                <a:latin typeface="Arial"/>
                <a:ea typeface="Arial"/>
                <a:cs typeface="Arial"/>
              </a:defRPr>
            </a:defPPr>
          </a:lstStyle>
          <a:p xmlns:a="http://schemas.openxmlformats.org/drawingml/2006/main">
            <a:pPr algn="l">
              <a:defRPr sz="1575" b="0">
                <a:solidFill>
                  <a:srgbClr val="516573"/>
                </a:solidFill>
                <a:latin typeface="Arial"/>
                <a:ea typeface="Arial"/>
                <a:cs typeface="Arial"/>
              </a:defRPr>
            </a:pPr>
            <a:r>
              <a:rPr sz="1575" b="0">
                <a:solidFill>
                  <a:srgbClr val="516573"/>
                </a:solidFill>
                <a:latin typeface="Arial"/>
                <a:ea typeface="Arial"/>
                <a:cs typeface="Arial"/>
              </a:rPr>
              <a:t>​BLS / FRED WPU058. Unité : indice, décembre 1984 = 100.</a:t>
            </a:r>
          </a:p>
        </p:txBody>
      </p:sp>
    </p:spTree>
    <p:extLst>
      <p:ext uri="{BB962C8B-B14F-4D97-AF65-F5344CB8AC3E}">
        <p14:creationId xmlns:p14="http://schemas.microsoft.com/office/powerpoint/2010/main" val="2122838215"/>
      </p:ext>
    </p:extLst>
  </p:cSld>
</p:sld>
</file>

<file path=ppt/slides/slide12.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1" name="Suivi au quotidien">
            <a:extLst xmlns:a="http://schemas.openxmlformats.org/drawingml/2006/main">
              <a:ext uri="{FF2B5EF4-FFF2-40B4-BE49-F238E27FC236}">
                <a16:creationId xmlns:a16="http://schemas.microsoft.com/office/drawing/2014/main" id="{B5E48AD5-B5DA-4C75-887A-1CFB92EA3856}"/>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3C"/>
                </a:solidFill>
                <a:latin typeface="Arial"/>
                <a:ea typeface="Arial"/>
                <a:cs typeface="Arial"/>
              </a:defRPr>
            </a:defPPr>
          </a:lstStyle>
          <a:p xmlns:a="http://schemas.openxmlformats.org/drawingml/2006/main">
            <a:pPr algn="l">
              <a:defRPr sz="3300" b="1">
                <a:solidFill>
                  <a:srgbClr val="172D3C"/>
                </a:solidFill>
                <a:latin typeface="Arial"/>
                <a:ea typeface="Arial"/>
                <a:cs typeface="Arial"/>
              </a:defRPr>
            </a:pPr>
            <a:r>
              <a:rPr sz="3300" b="1">
                <a:solidFill>
                  <a:srgbClr val="172D3C"/>
                </a:solidFill>
                <a:latin typeface="Arial"/>
                <a:ea typeface="Arial"/>
                <a:cs typeface="Arial"/>
              </a:rPr>
              <a:t>​Suivi au quotidien</a:t>
            </a:r>
          </a:p>
        </p:txBody>
      </p:sp>
      <p:sp>
        <p:nvSpPr>
          <p:cNvPr id="2" name="12">
            <a:extLst xmlns:a="http://schemas.openxmlformats.org/drawingml/2006/main">
              <a:ext uri="{FF2B5EF4-FFF2-40B4-BE49-F238E27FC236}">
                <a16:creationId xmlns:a16="http://schemas.microsoft.com/office/drawing/2014/main" id="{4A3EA49F-C504-425D-BC12-215B57415B8F}"/>
              </a:ext>
            </a:extLst>
          </p:cNvPr>
          <p:cNvSpPr>
            <a:spLocks xmlns:a="http://schemas.openxmlformats.org/drawingml/2006/main" noGrp="1"/>
          </p:cNvSpPr>
          <p:nvPr/>
        </p:nvSpPr>
        <p:spPr>
          <a:xfrm xmlns:a="http://schemas.openxmlformats.org/drawingml/2006/main">
            <a:off x="110490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16573"/>
                </a:solidFill>
                <a:latin typeface="Arial"/>
                <a:ea typeface="Arial"/>
                <a:cs typeface="Arial"/>
              </a:defRPr>
            </a:defPPr>
          </a:lstStyle>
          <a:p xmlns:a="http://schemas.openxmlformats.org/drawingml/2006/main">
            <a:pPr algn="r">
              <a:defRPr sz="1200" b="0">
                <a:solidFill>
                  <a:srgbClr val="516573"/>
                </a:solidFill>
                <a:latin typeface="Arial"/>
                <a:ea typeface="Arial"/>
                <a:cs typeface="Arial"/>
              </a:defRPr>
            </a:pPr>
            <a:r>
              <a:rPr sz="1200" b="0">
                <a:solidFill>
                  <a:srgbClr val="516573"/>
                </a:solidFill>
                <a:latin typeface="Arial"/>
                <a:ea typeface="Arial"/>
                <a:cs typeface="Arial"/>
              </a:rPr>
              <a:t>​12</a:t>
            </a:r>
          </a:p>
        </p:txBody>
      </p:sp>
      <p:sp>
        <p:nvSpPr>
          <p:cNvPr id="3" name="Suivre les tendances">
            <a:extLst xmlns:a="http://schemas.openxmlformats.org/drawingml/2006/main">
              <a:ext uri="{FF2B5EF4-FFF2-40B4-BE49-F238E27FC236}">
                <a16:creationId xmlns:a16="http://schemas.microsoft.com/office/drawing/2014/main" id="{F38FB4A2-F927-4800-B97D-FB106D626D2A}"/>
              </a:ext>
            </a:extLst>
          </p:cNvPr>
          <p:cNvSpPr>
            <a:spLocks xmlns:a="http://schemas.openxmlformats.org/drawingml/2006/main" noGrp="1"/>
          </p:cNvSpPr>
          <p:nvPr/>
        </p:nvSpPr>
        <p:spPr>
          <a:xfrm xmlns:a="http://schemas.openxmlformats.org/drawingml/2006/main">
            <a:off x="685800" y="18859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​Suivre les tendances</a:t>
            </a:r>
          </a:p>
        </p:txBody>
      </p:sp>
      <p:sp>
        <p:nvSpPr>
          <p:cNvPr id="4" name="Consulter les prix, leur évolution et l’ancie">
            <a:extLst xmlns:a="http://schemas.openxmlformats.org/drawingml/2006/main">
              <a:ext uri="{FF2B5EF4-FFF2-40B4-BE49-F238E27FC236}">
                <a16:creationId xmlns:a16="http://schemas.microsoft.com/office/drawing/2014/main" id="{35BA7623-0F1D-47E5-A9C9-4E967DF33429}"/>
              </a:ext>
            </a:extLst>
          </p:cNvPr>
          <p:cNvSpPr>
            <a:spLocks xmlns:a="http://schemas.openxmlformats.org/drawingml/2006/main" noGrp="1"/>
          </p:cNvSpPr>
          <p:nvPr/>
        </p:nvSpPr>
        <p:spPr>
          <a:xfrm xmlns:a="http://schemas.openxmlformats.org/drawingml/2006/main">
            <a:off x="685800" y="25146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73"/>
                </a:solidFill>
                <a:latin typeface="Arial"/>
                <a:ea typeface="Arial"/>
                <a:cs typeface="Arial"/>
              </a:defRPr>
            </a:defPPr>
          </a:lstStyle>
          <a:p xmlns:a="http://schemas.openxmlformats.org/drawingml/2006/main">
            <a:pPr algn="l">
              <a:defRPr sz="1950" b="0">
                <a:solidFill>
                  <a:srgbClr val="516573"/>
                </a:solidFill>
                <a:latin typeface="Arial"/>
                <a:ea typeface="Arial"/>
                <a:cs typeface="Arial"/>
              </a:defRPr>
            </a:pPr>
            <a:r>
              <a:rPr sz="1950" b="0">
                <a:solidFill>
                  <a:srgbClr val="516573"/>
                </a:solidFill>
                <a:latin typeface="Arial"/>
                <a:ea typeface="Arial"/>
                <a:cs typeface="Arial"/>
              </a:rPr>
              <a:t>​Consulter les prix, leur évolution et l’ancienneté de chaque relevé.</a:t>
            </a:r>
          </a:p>
        </p:txBody>
      </p:sp>
      <p:sp>
        <p:nvSpPr>
          <p:cNvPr id="5" name="Définir une alerte">
            <a:extLst xmlns:a="http://schemas.openxmlformats.org/drawingml/2006/main">
              <a:ext uri="{FF2B5EF4-FFF2-40B4-BE49-F238E27FC236}">
                <a16:creationId xmlns:a16="http://schemas.microsoft.com/office/drawing/2014/main" id="{7ECD195F-5A63-4D8C-9F43-C7EA1D8ECA04}"/>
              </a:ext>
            </a:extLst>
          </p:cNvPr>
          <p:cNvSpPr>
            <a:spLocks xmlns:a="http://schemas.openxmlformats.org/drawingml/2006/main" noGrp="1"/>
          </p:cNvSpPr>
          <p:nvPr/>
        </p:nvSpPr>
        <p:spPr>
          <a:xfrm xmlns:a="http://schemas.openxmlformats.org/drawingml/2006/main">
            <a:off x="6543675" y="18859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​Définir une alerte</a:t>
            </a:r>
          </a:p>
        </p:txBody>
      </p:sp>
      <p:sp>
        <p:nvSpPr>
          <p:cNvPr id="6" name="Surveiller un seuil ou la fraîcheur d’une cot">
            <a:extLst xmlns:a="http://schemas.openxmlformats.org/drawingml/2006/main">
              <a:ext uri="{FF2B5EF4-FFF2-40B4-BE49-F238E27FC236}">
                <a16:creationId xmlns:a16="http://schemas.microsoft.com/office/drawing/2014/main" id="{376C69E4-500D-4A69-BBFE-FB0E3D48E174}"/>
              </a:ext>
            </a:extLst>
          </p:cNvPr>
          <p:cNvSpPr>
            <a:spLocks xmlns:a="http://schemas.openxmlformats.org/drawingml/2006/main" noGrp="1"/>
          </p:cNvSpPr>
          <p:nvPr/>
        </p:nvSpPr>
        <p:spPr>
          <a:xfrm xmlns:a="http://schemas.openxmlformats.org/drawingml/2006/main">
            <a:off x="6543675" y="25146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73"/>
                </a:solidFill>
                <a:latin typeface="Arial"/>
                <a:ea typeface="Arial"/>
                <a:cs typeface="Arial"/>
              </a:defRPr>
            </a:defPPr>
          </a:lstStyle>
          <a:p xmlns:a="http://schemas.openxmlformats.org/drawingml/2006/main">
            <a:pPr algn="l">
              <a:defRPr sz="1950" b="0">
                <a:solidFill>
                  <a:srgbClr val="516573"/>
                </a:solidFill>
                <a:latin typeface="Arial"/>
                <a:ea typeface="Arial"/>
                <a:cs typeface="Arial"/>
              </a:defRPr>
            </a:pPr>
            <a:r>
              <a:rPr sz="1950" b="0">
                <a:solidFill>
                  <a:srgbClr val="516573"/>
                </a:solidFill>
                <a:latin typeface="Arial"/>
                <a:ea typeface="Arial"/>
                <a:cs typeface="Arial"/>
              </a:rPr>
              <a:t>​Surveiller un seuil ou la fraîcheur d’une cotation en direct.</a:t>
            </a:r>
          </a:p>
        </p:txBody>
      </p:sp>
      <p:sp>
        <p:nvSpPr>
          <p:cNvPr id="7" name="Explorer l’historique">
            <a:extLst xmlns:a="http://schemas.openxmlformats.org/drawingml/2006/main">
              <a:ext uri="{FF2B5EF4-FFF2-40B4-BE49-F238E27FC236}">
                <a16:creationId xmlns:a16="http://schemas.microsoft.com/office/drawing/2014/main" id="{6729AD14-392A-4AAB-9E5C-63A117C1C064}"/>
              </a:ext>
            </a:extLst>
          </p:cNvPr>
          <p:cNvSpPr>
            <a:spLocks xmlns:a="http://schemas.openxmlformats.org/drawingml/2006/main" noGrp="1"/>
          </p:cNvSpPr>
          <p:nvPr/>
        </p:nvSpPr>
        <p:spPr>
          <a:xfrm xmlns:a="http://schemas.openxmlformats.org/drawingml/2006/main">
            <a:off x="685800" y="387667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​Explorer l’historique</a:t>
            </a:r>
          </a:p>
        </p:txBody>
      </p:sp>
      <p:sp>
        <p:nvSpPr>
          <p:cNvPr id="8" name="Filtrer les archives, comparer des périodes e">
            <a:extLst xmlns:a="http://schemas.openxmlformats.org/drawingml/2006/main">
              <a:ext uri="{FF2B5EF4-FFF2-40B4-BE49-F238E27FC236}">
                <a16:creationId xmlns:a16="http://schemas.microsoft.com/office/drawing/2014/main" id="{A9788D94-C732-4815-8837-6DED78EA926C}"/>
              </a:ext>
            </a:extLst>
          </p:cNvPr>
          <p:cNvSpPr>
            <a:spLocks xmlns:a="http://schemas.openxmlformats.org/drawingml/2006/main" noGrp="1"/>
          </p:cNvSpPr>
          <p:nvPr/>
        </p:nvSpPr>
        <p:spPr>
          <a:xfrm xmlns:a="http://schemas.openxmlformats.org/drawingml/2006/main">
            <a:off x="685800" y="450532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73"/>
                </a:solidFill>
                <a:latin typeface="Arial"/>
                <a:ea typeface="Arial"/>
                <a:cs typeface="Arial"/>
              </a:defRPr>
            </a:defPPr>
          </a:lstStyle>
          <a:p xmlns:a="http://schemas.openxmlformats.org/drawingml/2006/main">
            <a:pPr algn="l">
              <a:defRPr sz="1950" b="0">
                <a:solidFill>
                  <a:srgbClr val="516573"/>
                </a:solidFill>
                <a:latin typeface="Arial"/>
                <a:ea typeface="Arial"/>
                <a:cs typeface="Arial"/>
              </a:defRPr>
            </a:pPr>
            <a:r>
              <a:rPr sz="1950" b="0">
                <a:solidFill>
                  <a:srgbClr val="516573"/>
                </a:solidFill>
                <a:latin typeface="Arial"/>
                <a:ea typeface="Arial"/>
                <a:cs typeface="Arial"/>
              </a:rPr>
              <a:t>​Filtrer les archives, comparer des périodes et exporter les données.</a:t>
            </a:r>
          </a:p>
        </p:txBody>
      </p:sp>
      <p:sp>
        <p:nvSpPr>
          <p:cNvPr id="9" name="Consulter l’activité">
            <a:extLst xmlns:a="http://schemas.openxmlformats.org/drawingml/2006/main">
              <a:ext uri="{FF2B5EF4-FFF2-40B4-BE49-F238E27FC236}">
                <a16:creationId xmlns:a16="http://schemas.microsoft.com/office/drawing/2014/main" id="{A7CC2253-A3C1-42F9-8764-6144F556BB05}"/>
              </a:ext>
            </a:extLst>
          </p:cNvPr>
          <p:cNvSpPr>
            <a:spLocks xmlns:a="http://schemas.openxmlformats.org/drawingml/2006/main" noGrp="1"/>
          </p:cNvSpPr>
          <p:nvPr/>
        </p:nvSpPr>
        <p:spPr>
          <a:xfrm xmlns:a="http://schemas.openxmlformats.org/drawingml/2006/main">
            <a:off x="6543675" y="38766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​Consulter l’activité</a:t>
            </a:r>
          </a:p>
        </p:txBody>
      </p:sp>
      <p:sp>
        <p:nvSpPr>
          <p:cNvPr id="10" name="Identifier une collecte partielle, une erreur">
            <a:extLst xmlns:a="http://schemas.openxmlformats.org/drawingml/2006/main">
              <a:ext uri="{FF2B5EF4-FFF2-40B4-BE49-F238E27FC236}">
                <a16:creationId xmlns:a16="http://schemas.microsoft.com/office/drawing/2014/main" id="{401EC5DB-652A-4F02-90F5-A3C51C5C5843}"/>
              </a:ext>
            </a:extLst>
          </p:cNvPr>
          <p:cNvSpPr>
            <a:spLocks xmlns:a="http://schemas.openxmlformats.org/drawingml/2006/main" noGrp="1"/>
          </p:cNvSpPr>
          <p:nvPr/>
        </p:nvSpPr>
        <p:spPr>
          <a:xfrm xmlns:a="http://schemas.openxmlformats.org/drawingml/2006/main">
            <a:off x="6543675" y="450532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73"/>
                </a:solidFill>
                <a:latin typeface="Arial"/>
                <a:ea typeface="Arial"/>
                <a:cs typeface="Arial"/>
              </a:defRPr>
            </a:defPPr>
          </a:lstStyle>
          <a:p xmlns:a="http://schemas.openxmlformats.org/drawingml/2006/main">
            <a:pPr algn="l">
              <a:defRPr sz="1950" b="0">
                <a:solidFill>
                  <a:srgbClr val="516573"/>
                </a:solidFill>
                <a:latin typeface="Arial"/>
                <a:ea typeface="Arial"/>
                <a:cs typeface="Arial"/>
              </a:defRPr>
            </a:pPr>
            <a:r>
              <a:rPr sz="1950" b="0">
                <a:solidFill>
                  <a:srgbClr val="516573"/>
                </a:solidFill>
                <a:latin typeface="Arial"/>
                <a:ea typeface="Arial"/>
                <a:cs typeface="Arial"/>
              </a:rPr>
              <a:t>​Identifier une collecte partielle, une erreur ou une perte de connexion.</a:t>
            </a:r>
          </a:p>
        </p:txBody>
      </p:sp>
    </p:spTree>
    <p:extLst>
      <p:ext uri="{BB962C8B-B14F-4D97-AF65-F5344CB8AC3E}">
        <p14:creationId xmlns:p14="http://schemas.microsoft.com/office/powerpoint/2010/main" val="154421090"/>
      </p:ext>
    </p:extLst>
  </p:cSld>
</p:sld>
</file>

<file path=ppt/slides/slide13.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7" name="Exemple de budget d’achat">
            <a:extLst xmlns:a="http://schemas.openxmlformats.org/drawingml/2006/main">
              <a:ext uri="{FF2B5EF4-FFF2-40B4-BE49-F238E27FC236}">
                <a16:creationId xmlns:a16="http://schemas.microsoft.com/office/drawing/2014/main" id="{3821E26B-59B5-4E44-89D0-9D952EA2A078}"/>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3C"/>
                </a:solidFill>
                <a:latin typeface="Arial"/>
                <a:ea typeface="Arial"/>
                <a:cs typeface="Arial"/>
              </a:defRPr>
            </a:defPPr>
          </a:lstStyle>
          <a:p xmlns:a="http://schemas.openxmlformats.org/drawingml/2006/main">
            <a:pPr algn="l">
              <a:defRPr sz="3300" b="1">
                <a:solidFill>
                  <a:srgbClr val="172D3C"/>
                </a:solidFill>
                <a:latin typeface="Arial"/>
                <a:ea typeface="Arial"/>
                <a:cs typeface="Arial"/>
              </a:defRPr>
            </a:pPr>
            <a:r>
              <a:rPr sz="3300" b="1">
                <a:solidFill>
                  <a:srgbClr val="172D3C"/>
                </a:solidFill>
                <a:latin typeface="Arial"/>
                <a:ea typeface="Arial"/>
                <a:cs typeface="Arial"/>
              </a:rPr>
              <a:t>​Exemple de budget d’achat</a:t>
            </a:r>
          </a:p>
        </p:txBody>
      </p:sp>
      <p:sp>
        <p:nvSpPr>
          <p:cNvPr id="2" name="13">
            <a:extLst xmlns:a="http://schemas.openxmlformats.org/drawingml/2006/main">
              <a:ext uri="{FF2B5EF4-FFF2-40B4-BE49-F238E27FC236}">
                <a16:creationId xmlns:a16="http://schemas.microsoft.com/office/drawing/2014/main" id="{873AFF92-C5B8-423B-A4CE-83E07401C646}"/>
              </a:ext>
            </a:extLst>
          </p:cNvPr>
          <p:cNvSpPr>
            <a:spLocks xmlns:a="http://schemas.openxmlformats.org/drawingml/2006/main" noGrp="1"/>
          </p:cNvSpPr>
          <p:nvPr/>
        </p:nvSpPr>
        <p:spPr>
          <a:xfrm xmlns:a="http://schemas.openxmlformats.org/drawingml/2006/main">
            <a:off x="110490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16573"/>
                </a:solidFill>
                <a:latin typeface="Arial"/>
                <a:ea typeface="Arial"/>
                <a:cs typeface="Arial"/>
              </a:defRPr>
            </a:defPPr>
          </a:lstStyle>
          <a:p xmlns:a="http://schemas.openxmlformats.org/drawingml/2006/main">
            <a:pPr algn="r">
              <a:defRPr sz="1200" b="0">
                <a:solidFill>
                  <a:srgbClr val="516573"/>
                </a:solidFill>
                <a:latin typeface="Arial"/>
                <a:ea typeface="Arial"/>
                <a:cs typeface="Arial"/>
              </a:defRPr>
            </a:pPr>
            <a:r>
              <a:rPr sz="1200" b="0">
                <a:solidFill>
                  <a:srgbClr val="516573"/>
                </a:solidFill>
                <a:latin typeface="Arial"/>
                <a:ea typeface="Arial"/>
                <a:cs typeface="Arial"/>
              </a:rPr>
              <a:t>​13</a:t>
            </a:r>
          </a:p>
        </p:txBody>
      </p:sp>
      <p:sp>
        <p:nvSpPr>
          <p:cNvPr id="3" name="Exemple fictif : 100 tonnes de bitume à 520 U">
            <a:extLst xmlns:a="http://schemas.openxmlformats.org/drawingml/2006/main">
              <a:ext uri="{FF2B5EF4-FFF2-40B4-BE49-F238E27FC236}">
                <a16:creationId xmlns:a16="http://schemas.microsoft.com/office/drawing/2014/main" id="{19FA7CB8-FB5B-4442-AF56-BA33B6553C4C}"/>
              </a:ext>
            </a:extLst>
          </p:cNvPr>
          <p:cNvSpPr>
            <a:spLocks xmlns:a="http://schemas.openxmlformats.org/drawingml/2006/main" noGrp="1"/>
          </p:cNvSpPr>
          <p:nvPr/>
        </p:nvSpPr>
        <p:spPr>
          <a:xfrm xmlns:a="http://schemas.openxmlformats.org/drawingml/2006/main">
            <a:off x="685800" y="1562100"/>
            <a:ext cx="108204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73"/>
                </a:solidFill>
                <a:latin typeface="Arial"/>
                <a:ea typeface="Arial"/>
                <a:cs typeface="Arial"/>
              </a:defRPr>
            </a:defPPr>
          </a:lstStyle>
          <a:p xmlns:a="http://schemas.openxmlformats.org/drawingml/2006/main">
            <a:pPr algn="l">
              <a:defRPr sz="1950" b="0">
                <a:solidFill>
                  <a:srgbClr val="516573"/>
                </a:solidFill>
                <a:latin typeface="Arial"/>
                <a:ea typeface="Arial"/>
                <a:cs typeface="Arial"/>
              </a:defRPr>
            </a:pPr>
            <a:r>
              <a:rPr sz="1950" b="0">
                <a:solidFill>
                  <a:srgbClr val="516573"/>
                </a:solidFill>
                <a:latin typeface="Arial"/>
                <a:ea typeface="Arial"/>
                <a:cs typeface="Arial"/>
              </a:rPr>
              <a:t>​Exemple fictif : 100 tonnes de bitume à 520 USD / tonne.</a:t>
            </a:r>
          </a:p>
        </p:txBody>
      </p:sp>
      <p:graphicFrame>
        <p:nvGraphicFramePr>
          <p:cNvPr id="4" name="">
            <a:extLst xmlns:a="http://schemas.openxmlformats.org/drawingml/2006/main">
              <a:ext uri="{FF2B5EF4-FFF2-40B4-BE49-F238E27FC236}">
                <a16:creationId xmlns:a16="http://schemas.microsoft.com/office/drawing/2014/main" id="{A28E3EA4-5501-4AA7-BE66-32AA205E0AD1}"/>
              </a:ext>
            </a:extLst>
          </p:cNvPr>
          <p:cNvGraphicFramePr/>
          <p:nvPr/>
        </p:nvGraphicFramePr>
        <p:xfrm>
          <a:off xmlns:a="http://schemas.openxmlformats.org/drawingml/2006/main" x="685800" y="2238375"/>
          <a:ext xmlns:a="http://schemas.openxmlformats.org/drawingml/2006/main" cx="7239000" cy="3533775"/>
        </p:xfrm>
        <a:graphic xmlns:a="http://schemas.openxmlformats.org/drawingml/2006/main">
          <a:graphicData uri="http://schemas.openxmlformats.org/drawingml/2006/table">
            <a:tbl>
              <a:tblPr/>
              <a:tblGrid>
                <a:gridCol w="2381250"/>
                <a:gridCol w="2524125"/>
                <a:gridCol w="2333625"/>
              </a:tblGrid>
              <a:tr h="588963">
                <a:tc>
                  <a:txBody>
                    <a:bodyPr lIns="114300" tIns="114300" rIns="114300" bIns="114300"/>
                    <a:lstStyle/>
                    <a:p>
                      <a:r>
                        <a:rPr sz="1725" b="1">
                          <a:solidFill>
                            <a:srgbClr val="FFFFFF"/>
                          </a:solidFill>
                          <a:latin typeface="Arial"/>
                          <a:ea typeface="Arial"/>
                          <a:cs typeface="Arial"/>
                        </a:rPr>
                        <a:t>Élément</a:t>
                      </a:r>
                    </a:p>
                  </a:txBody>
                  <a:tcPr marL="91440" marR="91440" marT="45720" marB="45720" anchor="ctr">
                    <a:solidFill>
                      <a:srgbClr val="102334"/>
                    </a:solidFill>
                  </a:tcPr>
                </a:tc>
                <a:tc>
                  <a:txBody>
                    <a:bodyPr lIns="114300" tIns="114300" rIns="114300" bIns="114300"/>
                    <a:lstStyle/>
                    <a:p>
                      <a:r>
                        <a:rPr sz="1725" b="1">
                          <a:solidFill>
                            <a:srgbClr val="FFFFFF"/>
                          </a:solidFill>
                          <a:latin typeface="Arial"/>
                          <a:ea typeface="Arial"/>
                          <a:cs typeface="Arial"/>
                        </a:rPr>
                        <a:t>Calcul</a:t>
                      </a:r>
                    </a:p>
                  </a:txBody>
                  <a:tcPr marL="91440" marR="91440" marT="45720" marB="45720" anchor="ctr">
                    <a:solidFill>
                      <a:srgbClr val="102334"/>
                    </a:solidFill>
                  </a:tcPr>
                </a:tc>
                <a:tc>
                  <a:txBody>
                    <a:bodyPr lIns="114300" tIns="114300" rIns="114300" bIns="114300"/>
                    <a:lstStyle/>
                    <a:p>
                      <a:r>
                        <a:rPr sz="1725" b="1">
                          <a:solidFill>
                            <a:srgbClr val="FFFFFF"/>
                          </a:solidFill>
                          <a:latin typeface="Arial"/>
                          <a:ea typeface="Arial"/>
                          <a:cs typeface="Arial"/>
                        </a:rPr>
                        <a:t>Montant</a:t>
                      </a:r>
                    </a:p>
                  </a:txBody>
                  <a:tcPr marL="91440" marR="91440" marT="45720" marB="45720" anchor="ctr">
                    <a:solidFill>
                      <a:srgbClr val="102334"/>
                    </a:solidFill>
                  </a:tcPr>
                </a:tc>
              </a:tr>
              <a:tr h="588963">
                <a:tc>
                  <a:txBody>
                    <a:bodyPr lIns="114300" tIns="114300" rIns="114300" bIns="114300"/>
                    <a:lstStyle/>
                    <a:p>
                      <a:r>
                        <a:rPr sz="1725" b="0">
                          <a:solidFill>
                            <a:srgbClr val="172D3C"/>
                          </a:solidFill>
                          <a:latin typeface="Arial"/>
                          <a:ea typeface="Arial"/>
                          <a:cs typeface="Arial"/>
                        </a:rPr>
                        <a:t>Marchandise</a:t>
                      </a:r>
                    </a:p>
                  </a:txBody>
                  <a:tcPr marL="91440" marR="91440" marT="45720" marB="45720" anchor="ctr">
                    <a:solidFill>
                      <a:srgbClr val="FFFFFF"/>
                    </a:solidFill>
                  </a:tcPr>
                </a:tc>
                <a:tc>
                  <a:txBody>
                    <a:bodyPr lIns="114300" tIns="114300" rIns="114300" bIns="114300"/>
                    <a:lstStyle/>
                    <a:p>
                      <a:r>
                        <a:rPr sz="1725" b="0">
                          <a:solidFill>
                            <a:srgbClr val="172D3C"/>
                          </a:solidFill>
                          <a:latin typeface="Arial"/>
                          <a:ea typeface="Arial"/>
                          <a:cs typeface="Arial"/>
                        </a:rPr>
                        <a:t>100 × 520 USD</a:t>
                      </a:r>
                    </a:p>
                  </a:txBody>
                  <a:tcPr marL="91440" marR="91440" marT="45720" marB="45720" anchor="ctr">
                    <a:solidFill>
                      <a:srgbClr val="FFFFFF"/>
                    </a:solidFill>
                  </a:tcPr>
                </a:tc>
                <a:tc>
                  <a:txBody>
                    <a:bodyPr lIns="114300" tIns="114300" rIns="114300" bIns="114300"/>
                    <a:lstStyle/>
                    <a:p>
                      <a:r>
                        <a:rPr sz="1725" b="0">
                          <a:solidFill>
                            <a:srgbClr val="172D3C"/>
                          </a:solidFill>
                          <a:latin typeface="Arial"/>
                          <a:ea typeface="Arial"/>
                          <a:cs typeface="Arial"/>
                        </a:rPr>
                        <a:t>52 000 USD</a:t>
                      </a:r>
                    </a:p>
                  </a:txBody>
                  <a:tcPr marL="91440" marR="91440" marT="45720" marB="45720" anchor="ctr">
                    <a:solidFill>
                      <a:srgbClr val="FFFFFF"/>
                    </a:solidFill>
                  </a:tcPr>
                </a:tc>
              </a:tr>
              <a:tr h="588963">
                <a:tc>
                  <a:txBody>
                    <a:bodyPr lIns="114300" tIns="114300" rIns="114300" bIns="114300"/>
                    <a:lstStyle/>
                    <a:p>
                      <a:r>
                        <a:rPr sz="1725" b="0">
                          <a:solidFill>
                            <a:srgbClr val="172D3C"/>
                          </a:solidFill>
                          <a:latin typeface="Arial"/>
                          <a:ea typeface="Arial"/>
                          <a:cs typeface="Arial"/>
                        </a:rPr>
                        <a:t>Transport</a:t>
                      </a:r>
                    </a:p>
                  </a:txBody>
                  <a:tcPr marL="91440" marR="91440" marT="45720" marB="45720" anchor="ctr">
                    <a:solidFill>
                      <a:srgbClr val="F4F7F8"/>
                    </a:solidFill>
                  </a:tcPr>
                </a:tc>
                <a:tc>
                  <a:txBody>
                    <a:bodyPr lIns="114300" tIns="114300" rIns="114300" bIns="114300"/>
                    <a:lstStyle/>
                    <a:p>
                      <a:r>
                        <a:rPr sz="1725" b="0">
                          <a:solidFill>
                            <a:srgbClr val="172D3C"/>
                          </a:solidFill>
                          <a:latin typeface="Arial"/>
                          <a:ea typeface="Arial"/>
                          <a:cs typeface="Arial"/>
                        </a:rPr>
                        <a:t>Montant saisi</a:t>
                      </a:r>
                    </a:p>
                  </a:txBody>
                  <a:tcPr marL="91440" marR="91440" marT="45720" marB="45720" anchor="ctr">
                    <a:solidFill>
                      <a:srgbClr val="F4F7F8"/>
                    </a:solidFill>
                  </a:tcPr>
                </a:tc>
                <a:tc>
                  <a:txBody>
                    <a:bodyPr lIns="114300" tIns="114300" rIns="114300" bIns="114300"/>
                    <a:lstStyle/>
                    <a:p>
                      <a:r>
                        <a:rPr sz="1725" b="0">
                          <a:solidFill>
                            <a:srgbClr val="172D3C"/>
                          </a:solidFill>
                          <a:latin typeface="Arial"/>
                          <a:ea typeface="Arial"/>
                          <a:cs typeface="Arial"/>
                        </a:rPr>
                        <a:t>2 500 USD</a:t>
                      </a:r>
                    </a:p>
                  </a:txBody>
                  <a:tcPr marL="91440" marR="91440" marT="45720" marB="45720" anchor="ctr">
                    <a:solidFill>
                      <a:srgbClr val="F4F7F8"/>
                    </a:solidFill>
                  </a:tcPr>
                </a:tc>
              </a:tr>
              <a:tr h="588963">
                <a:tc>
                  <a:txBody>
                    <a:bodyPr lIns="114300" tIns="114300" rIns="114300" bIns="114300"/>
                    <a:lstStyle/>
                    <a:p>
                      <a:r>
                        <a:rPr sz="1725" b="0">
                          <a:solidFill>
                            <a:srgbClr val="172D3C"/>
                          </a:solidFill>
                          <a:latin typeface="Arial"/>
                          <a:ea typeface="Arial"/>
                          <a:cs typeface="Arial"/>
                        </a:rPr>
                        <a:t>Estimation totale</a:t>
                      </a:r>
                    </a:p>
                  </a:txBody>
                  <a:tcPr marL="91440" marR="91440" marT="45720" marB="45720" anchor="ctr">
                    <a:solidFill>
                      <a:srgbClr val="FFFFFF"/>
                    </a:solidFill>
                  </a:tcPr>
                </a:tc>
                <a:tc>
                  <a:txBody>
                    <a:bodyPr lIns="114300" tIns="114300" rIns="114300" bIns="114300"/>
                    <a:lstStyle/>
                    <a:p>
                      <a:r>
                        <a:rPr sz="1725" b="0">
                          <a:solidFill>
                            <a:srgbClr val="172D3C"/>
                          </a:solidFill>
                          <a:latin typeface="Arial"/>
                          <a:ea typeface="Arial"/>
                          <a:cs typeface="Arial"/>
                        </a:rPr>
                        <a:t>52 000 + 2 500</a:t>
                      </a:r>
                    </a:p>
                  </a:txBody>
                  <a:tcPr marL="91440" marR="91440" marT="45720" marB="45720" anchor="ctr">
                    <a:solidFill>
                      <a:srgbClr val="FFFFFF"/>
                    </a:solidFill>
                  </a:tcPr>
                </a:tc>
                <a:tc>
                  <a:txBody>
                    <a:bodyPr lIns="114300" tIns="114300" rIns="114300" bIns="114300"/>
                    <a:lstStyle/>
                    <a:p>
                      <a:r>
                        <a:rPr sz="1725" b="0">
                          <a:solidFill>
                            <a:srgbClr val="172D3C"/>
                          </a:solidFill>
                          <a:latin typeface="Arial"/>
                          <a:ea typeface="Arial"/>
                          <a:cs typeface="Arial"/>
                        </a:rPr>
                        <a:t>54 500 USD</a:t>
                      </a:r>
                    </a:p>
                  </a:txBody>
                  <a:tcPr marL="91440" marR="91440" marT="45720" marB="45720" anchor="ctr">
                    <a:solidFill>
                      <a:srgbClr val="FFFFFF"/>
                    </a:solidFill>
                  </a:tcPr>
                </a:tc>
              </a:tr>
              <a:tr h="588963">
                <a:tc>
                  <a:txBody>
                    <a:bodyPr lIns="114300" tIns="114300" rIns="114300" bIns="114300"/>
                    <a:lstStyle/>
                    <a:p>
                      <a:r>
                        <a:rPr sz="1725" b="0">
                          <a:solidFill>
                            <a:srgbClr val="172D3C"/>
                          </a:solidFill>
                          <a:latin typeface="Arial"/>
                          <a:ea typeface="Arial"/>
                          <a:cs typeface="Arial"/>
                        </a:rPr>
                        <a:t>Budget prévu</a:t>
                      </a:r>
                    </a:p>
                  </a:txBody>
                  <a:tcPr marL="91440" marR="91440" marT="45720" marB="45720" anchor="ctr">
                    <a:solidFill>
                      <a:srgbClr val="F4F7F8"/>
                    </a:solidFill>
                  </a:tcPr>
                </a:tc>
                <a:tc>
                  <a:txBody>
                    <a:bodyPr lIns="114300" tIns="114300" rIns="114300" bIns="114300"/>
                    <a:lstStyle/>
                    <a:p>
                      <a:r>
                        <a:rPr sz="1725" b="0">
                          <a:solidFill>
                            <a:srgbClr val="172D3C"/>
                          </a:solidFill>
                          <a:latin typeface="Arial"/>
                          <a:ea typeface="Arial"/>
                          <a:cs typeface="Arial"/>
                        </a:rPr>
                        <a:t>Montant saisi</a:t>
                      </a:r>
                    </a:p>
                  </a:txBody>
                  <a:tcPr marL="91440" marR="91440" marT="45720" marB="45720" anchor="ctr">
                    <a:solidFill>
                      <a:srgbClr val="F4F7F8"/>
                    </a:solidFill>
                  </a:tcPr>
                </a:tc>
                <a:tc>
                  <a:txBody>
                    <a:bodyPr lIns="114300" tIns="114300" rIns="114300" bIns="114300"/>
                    <a:lstStyle/>
                    <a:p>
                      <a:r>
                        <a:rPr sz="1725" b="0">
                          <a:solidFill>
                            <a:srgbClr val="172D3C"/>
                          </a:solidFill>
                          <a:latin typeface="Arial"/>
                          <a:ea typeface="Arial"/>
                          <a:cs typeface="Arial"/>
                        </a:rPr>
                        <a:t>55 000 USD</a:t>
                      </a:r>
                    </a:p>
                  </a:txBody>
                  <a:tcPr marL="91440" marR="91440" marT="45720" marB="45720" anchor="ctr">
                    <a:solidFill>
                      <a:srgbClr val="F4F7F8"/>
                    </a:solidFill>
                  </a:tcPr>
                </a:tc>
              </a:tr>
              <a:tr h="588963">
                <a:tc>
                  <a:txBody>
                    <a:bodyPr lIns="114300" tIns="114300" rIns="114300" bIns="114300"/>
                    <a:lstStyle/>
                    <a:p>
                      <a:r>
                        <a:rPr sz="1725" b="0">
                          <a:solidFill>
                            <a:srgbClr val="172D3C"/>
                          </a:solidFill>
                          <a:latin typeface="Arial"/>
                          <a:ea typeface="Arial"/>
                          <a:cs typeface="Arial"/>
                        </a:rPr>
                        <a:t>Écart au budget</a:t>
                      </a:r>
                    </a:p>
                  </a:txBody>
                  <a:tcPr marL="91440" marR="91440" marT="45720" marB="45720" anchor="ctr">
                    <a:solidFill>
                      <a:srgbClr val="FFFFFF"/>
                    </a:solidFill>
                  </a:tcPr>
                </a:tc>
                <a:tc>
                  <a:txBody>
                    <a:bodyPr lIns="114300" tIns="114300" rIns="114300" bIns="114300"/>
                    <a:lstStyle/>
                    <a:p>
                      <a:r>
                        <a:rPr sz="1725" b="0">
                          <a:solidFill>
                            <a:srgbClr val="172D3C"/>
                          </a:solidFill>
                          <a:latin typeface="Arial"/>
                          <a:ea typeface="Arial"/>
                          <a:cs typeface="Arial"/>
                        </a:rPr>
                        <a:t>54 500 − 55 000</a:t>
                      </a:r>
                    </a:p>
                  </a:txBody>
                  <a:tcPr marL="91440" marR="91440" marT="45720" marB="45720" anchor="ctr">
                    <a:solidFill>
                      <a:srgbClr val="FFFFFF"/>
                    </a:solidFill>
                  </a:tcPr>
                </a:tc>
                <a:tc>
                  <a:txBody>
                    <a:bodyPr lIns="114300" tIns="114300" rIns="114300" bIns="114300"/>
                    <a:lstStyle/>
                    <a:p>
                      <a:r>
                        <a:rPr sz="1725" b="0">
                          <a:solidFill>
                            <a:srgbClr val="172D3C"/>
                          </a:solidFill>
                          <a:latin typeface="Arial"/>
                          <a:ea typeface="Arial"/>
                          <a:cs typeface="Arial"/>
                        </a:rPr>
                        <a:t>−500 USD</a:t>
                      </a:r>
                    </a:p>
                  </a:txBody>
                  <a:tcPr marL="91440" marR="91440" marT="45720" marB="45720" anchor="ctr">
                    <a:solidFill>
                      <a:srgbClr val="FFFFFF"/>
                    </a:solidFill>
                  </a:tcPr>
                </a:tc>
              </a:tr>
            </a:tbl>
          </a:graphicData>
        </a:graphic>
      </p:graphicFrame>
      <p:sp>
        <p:nvSpPr>
          <p:cNvPr id="5" name="500 USD&#10;sous le budget">
            <a:extLst xmlns:a="http://schemas.openxmlformats.org/drawingml/2006/main">
              <a:ext uri="{FF2B5EF4-FFF2-40B4-BE49-F238E27FC236}">
                <a16:creationId xmlns:a16="http://schemas.microsoft.com/office/drawing/2014/main" id="{0AF175FB-7B75-4BF2-A07B-4CDD33ABFC11}"/>
              </a:ext>
            </a:extLst>
          </p:cNvPr>
          <p:cNvSpPr>
            <a:spLocks xmlns:a="http://schemas.openxmlformats.org/drawingml/2006/main" noGrp="1"/>
          </p:cNvSpPr>
          <p:nvPr/>
        </p:nvSpPr>
        <p:spPr>
          <a:xfrm xmlns:a="http://schemas.openxmlformats.org/drawingml/2006/main">
            <a:off x="8496300" y="2505075"/>
            <a:ext cx="3000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087F83"/>
                </a:solidFill>
                <a:latin typeface="Arial"/>
                <a:ea typeface="Arial"/>
                <a:cs typeface="Arial"/>
              </a:defRPr>
            </a:defPPr>
          </a:lstStyle>
          <a:p xmlns:a="http://schemas.openxmlformats.org/drawingml/2006/main">
            <a:pPr algn="l">
              <a:defRPr sz="3000" b="1">
                <a:solidFill>
                  <a:srgbClr val="087F83"/>
                </a:solidFill>
                <a:latin typeface="Arial"/>
                <a:ea typeface="Arial"/>
                <a:cs typeface="Arial"/>
              </a:defRPr>
            </a:pPr>
            <a:r>
              <a:rPr sz="3000" b="1">
                <a:solidFill>
                  <a:srgbClr val="087F83"/>
                </a:solidFill>
                <a:latin typeface="Arial"/>
                <a:ea typeface="Arial"/>
                <a:cs typeface="Arial"/>
              </a:rPr>
              <a:t>​500 USD</a:t>
            </a:r>
          </a:p>
          <a:p xmlns:a="http://schemas.openxmlformats.org/drawingml/2006/main">
            <a:pPr algn="l">
              <a:defRPr sz="3000" b="1">
                <a:solidFill>
                  <a:srgbClr val="087F83"/>
                </a:solidFill>
                <a:latin typeface="Arial"/>
                <a:ea typeface="Arial"/>
                <a:cs typeface="Arial"/>
              </a:defRPr>
            </a:pPr>
            <a:r>
              <a:rPr sz="3000" b="1">
                <a:solidFill>
                  <a:srgbClr val="087F83"/>
                </a:solidFill>
                <a:latin typeface="Arial"/>
                <a:ea typeface="Arial"/>
                <a:cs typeface="Arial"/>
              </a:rPr>
              <a:t>sous le budget</a:t>
            </a:r>
          </a:p>
        </p:txBody>
      </p:sp>
      <p:sp>
        <p:nvSpPr>
          <p:cNvPr id="6" name="Le devis fournisseur&#10;sert de base au calcul.">
            <a:extLst xmlns:a="http://schemas.openxmlformats.org/drawingml/2006/main">
              <a:ext uri="{FF2B5EF4-FFF2-40B4-BE49-F238E27FC236}">
                <a16:creationId xmlns:a16="http://schemas.microsoft.com/office/drawing/2014/main" id="{791AD2FB-DA24-4AF8-B511-99074D9DEE08}"/>
              </a:ext>
            </a:extLst>
          </p:cNvPr>
          <p:cNvSpPr>
            <a:spLocks xmlns:a="http://schemas.openxmlformats.org/drawingml/2006/main" noGrp="1"/>
          </p:cNvSpPr>
          <p:nvPr/>
        </p:nvSpPr>
        <p:spPr>
          <a:xfrm xmlns:a="http://schemas.openxmlformats.org/drawingml/2006/main">
            <a:off x="8496300" y="4086225"/>
            <a:ext cx="3000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16573"/>
                </a:solidFill>
                <a:latin typeface="Arial"/>
                <a:ea typeface="Arial"/>
                <a:cs typeface="Arial"/>
              </a:defRPr>
            </a:defPPr>
          </a:lstStyle>
          <a:p xmlns:a="http://schemas.openxmlformats.org/drawingml/2006/main">
            <a:pPr algn="l">
              <a:defRPr sz="2025" b="0">
                <a:solidFill>
                  <a:srgbClr val="516573"/>
                </a:solidFill>
                <a:latin typeface="Arial"/>
                <a:ea typeface="Arial"/>
                <a:cs typeface="Arial"/>
              </a:defRPr>
            </a:pPr>
            <a:r>
              <a:rPr sz="2025" b="0">
                <a:solidFill>
                  <a:srgbClr val="516573"/>
                </a:solidFill>
                <a:latin typeface="Arial"/>
                <a:ea typeface="Arial"/>
                <a:cs typeface="Arial"/>
              </a:rPr>
              <a:t>​Le devis fournisseur</a:t>
            </a:r>
          </a:p>
          <a:p xmlns:a="http://schemas.openxmlformats.org/drawingml/2006/main">
            <a:pPr algn="l">
              <a:defRPr sz="2025" b="0">
                <a:solidFill>
                  <a:srgbClr val="516573"/>
                </a:solidFill>
                <a:latin typeface="Arial"/>
                <a:ea typeface="Arial"/>
                <a:cs typeface="Arial"/>
              </a:defRPr>
            </a:pPr>
            <a:r>
              <a:rPr sz="2025" b="0">
                <a:solidFill>
                  <a:srgbClr val="516573"/>
                </a:solidFill>
                <a:latin typeface="Arial"/>
                <a:ea typeface="Arial"/>
                <a:cs typeface="Arial"/>
              </a:rPr>
              <a:t>sert de base au calcul.</a:t>
            </a:r>
          </a:p>
        </p:txBody>
      </p:sp>
    </p:spTree>
    <p:extLst>
      <p:ext uri="{BB962C8B-B14F-4D97-AF65-F5344CB8AC3E}">
        <p14:creationId xmlns:p14="http://schemas.microsoft.com/office/powerpoint/2010/main" val="818377870"/>
      </p:ext>
    </p:extLst>
  </p:cSld>
</p:sld>
</file>

<file path=ppt/slides/slide14.xml><?xml version="1.0" encoding="utf-8"?>
<p:sld xmlns:p="http://schemas.openxmlformats.org/presentationml/2006/main">
  <p:cSld>
    <p:bg>
      <p:bgPr>
        <a:solidFill xmlns:a="http://schemas.openxmlformats.org/drawingml/2006/main">
          <a:srgbClr val="F4F7F8"/>
        </a:solidFill>
      </p:bgPr>
    </p:bg>
    <p:spTree>
      <p:nvGrpSpPr>
        <p:cNvPr id="1" name=""/>
        <p:cNvGrpSpPr/>
        <p:nvPr/>
      </p:nvGrpSpPr>
      <p:grpSpPr>
        <a:xfrm xmlns:a="http://schemas.openxmlformats.org/drawingml/2006/main"/>
      </p:grpSpPr>
      <p:sp>
        <p:nvSpPr>
          <p:cNvPr id="11" name="Déploiement et les limites">
            <a:extLst xmlns:a="http://schemas.openxmlformats.org/drawingml/2006/main">
              <a:ext uri="{FF2B5EF4-FFF2-40B4-BE49-F238E27FC236}">
                <a16:creationId xmlns:a16="http://schemas.microsoft.com/office/drawing/2014/main" id="{B54DFD86-7563-4CB5-8A47-1A555C75A6E7}"/>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2D3C"/>
                </a:solidFill>
                <a:latin typeface="Arial"/>
                <a:ea typeface="Arial"/>
                <a:cs typeface="Arial"/>
              </a:defRPr>
            </a:defPPr>
          </a:lstStyle>
          <a:p xmlns:a="http://schemas.openxmlformats.org/drawingml/2006/main">
            <a:pPr algn="l">
              <a:defRPr sz="3300" b="1">
                <a:solidFill>
                  <a:srgbClr val="172D3C"/>
                </a:solidFill>
                <a:latin typeface="Arial"/>
                <a:ea typeface="Arial"/>
                <a:cs typeface="Arial"/>
              </a:defRPr>
            </a:pPr>
            <a:r>
              <a:rPr sz="3300" b="1">
                <a:solidFill>
                  <a:srgbClr val="172D3C"/>
                </a:solidFill>
                <a:latin typeface="Arial"/>
                <a:ea typeface="Arial"/>
                <a:cs typeface="Arial"/>
              </a:rPr>
              <a:t>​Déploiement et les limites</a:t>
            </a:r>
          </a:p>
        </p:txBody>
      </p:sp>
      <p:sp>
        <p:nvSpPr>
          <p:cNvPr id="2" name="14">
            <a:extLst xmlns:a="http://schemas.openxmlformats.org/drawingml/2006/main">
              <a:ext uri="{FF2B5EF4-FFF2-40B4-BE49-F238E27FC236}">
                <a16:creationId xmlns:a16="http://schemas.microsoft.com/office/drawing/2014/main" id="{AFAD26AC-8FD6-42A0-AF94-A9EEA3327A84}"/>
              </a:ext>
            </a:extLst>
          </p:cNvPr>
          <p:cNvSpPr>
            <a:spLocks xmlns:a="http://schemas.openxmlformats.org/drawingml/2006/main" noGrp="1"/>
          </p:cNvSpPr>
          <p:nvPr/>
        </p:nvSpPr>
        <p:spPr>
          <a:xfrm xmlns:a="http://schemas.openxmlformats.org/drawingml/2006/main">
            <a:off x="110490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516573"/>
                </a:solidFill>
                <a:latin typeface="Arial"/>
                <a:ea typeface="Arial"/>
                <a:cs typeface="Arial"/>
              </a:defRPr>
            </a:defPPr>
          </a:lstStyle>
          <a:p xmlns:a="http://schemas.openxmlformats.org/drawingml/2006/main">
            <a:pPr algn="r">
              <a:defRPr sz="1200" b="0">
                <a:solidFill>
                  <a:srgbClr val="516573"/>
                </a:solidFill>
                <a:latin typeface="Arial"/>
                <a:ea typeface="Arial"/>
                <a:cs typeface="Arial"/>
              </a:defRPr>
            </a:pPr>
            <a:r>
              <a:rPr sz="1200" b="0">
                <a:solidFill>
                  <a:srgbClr val="516573"/>
                </a:solidFill>
                <a:latin typeface="Arial"/>
                <a:ea typeface="Arial"/>
                <a:cs typeface="Arial"/>
              </a:rPr>
              <a:t>​14</a:t>
            </a:r>
          </a:p>
        </p:txBody>
      </p:sp>
      <p:sp>
        <p:nvSpPr>
          <p:cNvPr id="3" name="Mise en service">
            <a:extLst xmlns:a="http://schemas.openxmlformats.org/drawingml/2006/main">
              <a:ext uri="{FF2B5EF4-FFF2-40B4-BE49-F238E27FC236}">
                <a16:creationId xmlns:a16="http://schemas.microsoft.com/office/drawing/2014/main" id="{056A78B6-6188-4CCC-982A-97F6038EECBD}"/>
              </a:ext>
            </a:extLst>
          </p:cNvPr>
          <p:cNvSpPr>
            <a:spLocks xmlns:a="http://schemas.openxmlformats.org/drawingml/2006/main" noGrp="1"/>
          </p:cNvSpPr>
          <p:nvPr/>
        </p:nvSpPr>
        <p:spPr>
          <a:xfrm xmlns:a="http://schemas.openxmlformats.org/drawingml/2006/main">
            <a:off x="685800" y="1885950"/>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​Mise en service</a:t>
            </a:r>
          </a:p>
        </p:txBody>
      </p:sp>
      <p:sp>
        <p:nvSpPr>
          <p:cNvPr id="4" name="Exécution locale ou Docker. Base SQLite ou My">
            <a:extLst xmlns:a="http://schemas.openxmlformats.org/drawingml/2006/main">
              <a:ext uri="{FF2B5EF4-FFF2-40B4-BE49-F238E27FC236}">
                <a16:creationId xmlns:a16="http://schemas.microsoft.com/office/drawing/2014/main" id="{C95889DF-B5BB-4049-B9F5-52EDE1FB6951}"/>
              </a:ext>
            </a:extLst>
          </p:cNvPr>
          <p:cNvSpPr>
            <a:spLocks xmlns:a="http://schemas.openxmlformats.org/drawingml/2006/main" noGrp="1"/>
          </p:cNvSpPr>
          <p:nvPr/>
        </p:nvSpPr>
        <p:spPr>
          <a:xfrm xmlns:a="http://schemas.openxmlformats.org/drawingml/2006/main">
            <a:off x="685800" y="2514600"/>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73"/>
                </a:solidFill>
                <a:latin typeface="Arial"/>
                <a:ea typeface="Arial"/>
                <a:cs typeface="Arial"/>
              </a:defRPr>
            </a:defPPr>
          </a:lstStyle>
          <a:p xmlns:a="http://schemas.openxmlformats.org/drawingml/2006/main">
            <a:pPr algn="l">
              <a:defRPr sz="1950" b="0">
                <a:solidFill>
                  <a:srgbClr val="516573"/>
                </a:solidFill>
                <a:latin typeface="Arial"/>
                <a:ea typeface="Arial"/>
                <a:cs typeface="Arial"/>
              </a:defRPr>
            </a:pPr>
            <a:r>
              <a:rPr sz="1950" b="0">
                <a:solidFill>
                  <a:srgbClr val="516573"/>
                </a:solidFill>
                <a:latin typeface="Arial"/>
                <a:ea typeface="Arial"/>
                <a:cs typeface="Arial"/>
              </a:rPr>
              <a:t>​Exécution locale ou Docker. Base SQLite ou MySQL avec migrations.</a:t>
            </a:r>
          </a:p>
        </p:txBody>
      </p:sp>
      <p:sp>
        <p:nvSpPr>
          <p:cNvPr id="5" name="Protection des écritures">
            <a:extLst xmlns:a="http://schemas.openxmlformats.org/drawingml/2006/main">
              <a:ext uri="{FF2B5EF4-FFF2-40B4-BE49-F238E27FC236}">
                <a16:creationId xmlns:a16="http://schemas.microsoft.com/office/drawing/2014/main" id="{018CD230-BD42-4BE8-9FB5-9DFA7D8687DC}"/>
              </a:ext>
            </a:extLst>
          </p:cNvPr>
          <p:cNvSpPr>
            <a:spLocks xmlns:a="http://schemas.openxmlformats.org/drawingml/2006/main" noGrp="1"/>
          </p:cNvSpPr>
          <p:nvPr/>
        </p:nvSpPr>
        <p:spPr>
          <a:xfrm xmlns:a="http://schemas.openxmlformats.org/drawingml/2006/main">
            <a:off x="6543675" y="1885950"/>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​Protection des écritures</a:t>
            </a:r>
          </a:p>
        </p:txBody>
      </p:sp>
      <p:sp>
        <p:nvSpPr>
          <p:cNvPr id="6" name="Clé API obligatoire pour une instance publiqu">
            <a:extLst xmlns:a="http://schemas.openxmlformats.org/drawingml/2006/main">
              <a:ext uri="{FF2B5EF4-FFF2-40B4-BE49-F238E27FC236}">
                <a16:creationId xmlns:a16="http://schemas.microsoft.com/office/drawing/2014/main" id="{C8D71A93-9B60-4E66-A837-D156E297A36B}"/>
              </a:ext>
            </a:extLst>
          </p:cNvPr>
          <p:cNvSpPr>
            <a:spLocks xmlns:a="http://schemas.openxmlformats.org/drawingml/2006/main" noGrp="1"/>
          </p:cNvSpPr>
          <p:nvPr/>
        </p:nvSpPr>
        <p:spPr>
          <a:xfrm xmlns:a="http://schemas.openxmlformats.org/drawingml/2006/main">
            <a:off x="6543675" y="25146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73"/>
                </a:solidFill>
                <a:latin typeface="Arial"/>
                <a:ea typeface="Arial"/>
                <a:cs typeface="Arial"/>
              </a:defRPr>
            </a:defPPr>
          </a:lstStyle>
          <a:p xmlns:a="http://schemas.openxmlformats.org/drawingml/2006/main">
            <a:pPr algn="l">
              <a:defRPr sz="1950" b="0">
                <a:solidFill>
                  <a:srgbClr val="516573"/>
                </a:solidFill>
                <a:latin typeface="Arial"/>
                <a:ea typeface="Arial"/>
                <a:cs typeface="Arial"/>
              </a:defRPr>
            </a:pPr>
            <a:r>
              <a:rPr sz="1950" b="0">
                <a:solidFill>
                  <a:srgbClr val="516573"/>
                </a:solidFill>
                <a:latin typeface="Arial"/>
                <a:ea typeface="Arial"/>
                <a:cs typeface="Arial"/>
              </a:rPr>
              <a:t>​Clé API obligatoire pour une instance publique ou en production.</a:t>
            </a:r>
          </a:p>
        </p:txBody>
      </p:sp>
      <p:sp>
        <p:nvSpPr>
          <p:cNvPr id="7" name="Tests du projet">
            <a:extLst xmlns:a="http://schemas.openxmlformats.org/drawingml/2006/main">
              <a:ext uri="{FF2B5EF4-FFF2-40B4-BE49-F238E27FC236}">
                <a16:creationId xmlns:a16="http://schemas.microsoft.com/office/drawing/2014/main" id="{B17C0A83-CA93-4739-AE71-F01E45EBBEA1}"/>
              </a:ext>
            </a:extLst>
          </p:cNvPr>
          <p:cNvSpPr>
            <a:spLocks xmlns:a="http://schemas.openxmlformats.org/drawingml/2006/main" noGrp="1"/>
          </p:cNvSpPr>
          <p:nvPr/>
        </p:nvSpPr>
        <p:spPr>
          <a:xfrm xmlns:a="http://schemas.openxmlformats.org/drawingml/2006/main">
            <a:off x="685800" y="387667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​Tests du projet</a:t>
            </a:r>
          </a:p>
        </p:txBody>
      </p:sp>
      <p:sp>
        <p:nvSpPr>
          <p:cNvPr id="8" name="Contrôles des données, des collectes, des exp">
            <a:extLst xmlns:a="http://schemas.openxmlformats.org/drawingml/2006/main">
              <a:ext uri="{FF2B5EF4-FFF2-40B4-BE49-F238E27FC236}">
                <a16:creationId xmlns:a16="http://schemas.microsoft.com/office/drawing/2014/main" id="{C0A24DDB-2D78-480F-BE9D-91E7F3B307F5}"/>
              </a:ext>
            </a:extLst>
          </p:cNvPr>
          <p:cNvSpPr>
            <a:spLocks xmlns:a="http://schemas.openxmlformats.org/drawingml/2006/main" noGrp="1"/>
          </p:cNvSpPr>
          <p:nvPr/>
        </p:nvSpPr>
        <p:spPr>
          <a:xfrm xmlns:a="http://schemas.openxmlformats.org/drawingml/2006/main">
            <a:off x="685800" y="4505325"/>
            <a:ext cx="5048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73"/>
                </a:solidFill>
                <a:latin typeface="Arial"/>
                <a:ea typeface="Arial"/>
                <a:cs typeface="Arial"/>
              </a:defRPr>
            </a:defPPr>
          </a:lstStyle>
          <a:p xmlns:a="http://schemas.openxmlformats.org/drawingml/2006/main">
            <a:pPr algn="l">
              <a:defRPr sz="1950" b="0">
                <a:solidFill>
                  <a:srgbClr val="516573"/>
                </a:solidFill>
                <a:latin typeface="Arial"/>
                <a:ea typeface="Arial"/>
                <a:cs typeface="Arial"/>
              </a:defRPr>
            </a:pPr>
            <a:r>
              <a:rPr sz="1950" b="0">
                <a:solidFill>
                  <a:srgbClr val="516573"/>
                </a:solidFill>
                <a:latin typeface="Arial"/>
                <a:ea typeface="Arial"/>
                <a:cs typeface="Arial"/>
              </a:rPr>
              <a:t>​Contrôles des données, des collectes, des exports et des calculs.</a:t>
            </a:r>
          </a:p>
        </p:txBody>
      </p:sp>
      <p:sp>
        <p:nvSpPr>
          <p:cNvPr id="9" name="Limites à garder en tête">
            <a:extLst xmlns:a="http://schemas.openxmlformats.org/drawingml/2006/main">
              <a:ext uri="{FF2B5EF4-FFF2-40B4-BE49-F238E27FC236}">
                <a16:creationId xmlns:a16="http://schemas.microsoft.com/office/drawing/2014/main" id="{4B1A6913-DF34-4042-9DFC-6F7DCAD9A999}"/>
              </a:ext>
            </a:extLst>
          </p:cNvPr>
          <p:cNvSpPr>
            <a:spLocks xmlns:a="http://schemas.openxmlformats.org/drawingml/2006/main" noGrp="1"/>
          </p:cNvSpPr>
          <p:nvPr/>
        </p:nvSpPr>
        <p:spPr>
          <a:xfrm xmlns:a="http://schemas.openxmlformats.org/drawingml/2006/main">
            <a:off x="6543675" y="3876675"/>
            <a:ext cx="4953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D3C"/>
                </a:solidFill>
                <a:latin typeface="Arial"/>
                <a:ea typeface="Arial"/>
                <a:cs typeface="Arial"/>
              </a:defRPr>
            </a:defPPr>
          </a:lstStyle>
          <a:p xmlns:a="http://schemas.openxmlformats.org/drawingml/2006/main">
            <a:pPr algn="l">
              <a:defRPr sz="2250" b="1">
                <a:solidFill>
                  <a:srgbClr val="172D3C"/>
                </a:solidFill>
                <a:latin typeface="Arial"/>
                <a:ea typeface="Arial"/>
                <a:cs typeface="Arial"/>
              </a:defRPr>
            </a:pPr>
            <a:r>
              <a:rPr sz="2250" b="1">
                <a:solidFill>
                  <a:srgbClr val="172D3C"/>
                </a:solidFill>
                <a:latin typeface="Arial"/>
                <a:ea typeface="Arial"/>
                <a:cs typeface="Arial"/>
              </a:rPr>
              <a:t>​Limites à garder en tête</a:t>
            </a:r>
          </a:p>
        </p:txBody>
      </p:sp>
      <p:sp>
        <p:nvSpPr>
          <p:cNvPr id="10" name="Retards de publication, bandes indicatives et">
            <a:extLst xmlns:a="http://schemas.openxmlformats.org/drawingml/2006/main">
              <a:ext uri="{FF2B5EF4-FFF2-40B4-BE49-F238E27FC236}">
                <a16:creationId xmlns:a16="http://schemas.microsoft.com/office/drawing/2014/main" id="{93567798-E1AB-4FBA-B943-0CB1DCA8FD67}"/>
              </a:ext>
            </a:extLst>
          </p:cNvPr>
          <p:cNvSpPr>
            <a:spLocks xmlns:a="http://schemas.openxmlformats.org/drawingml/2006/main" noGrp="1"/>
          </p:cNvSpPr>
          <p:nvPr/>
        </p:nvSpPr>
        <p:spPr>
          <a:xfrm xmlns:a="http://schemas.openxmlformats.org/drawingml/2006/main">
            <a:off x="6543675" y="450532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16573"/>
                </a:solidFill>
                <a:latin typeface="Arial"/>
                <a:ea typeface="Arial"/>
                <a:cs typeface="Arial"/>
              </a:defRPr>
            </a:defPPr>
          </a:lstStyle>
          <a:p xmlns:a="http://schemas.openxmlformats.org/drawingml/2006/main">
            <a:pPr algn="l">
              <a:defRPr sz="1950" b="0">
                <a:solidFill>
                  <a:srgbClr val="516573"/>
                </a:solidFill>
                <a:latin typeface="Arial"/>
                <a:ea typeface="Arial"/>
                <a:cs typeface="Arial"/>
              </a:defRPr>
            </a:pPr>
            <a:r>
              <a:rPr sz="1950" b="0">
                <a:solidFill>
                  <a:srgbClr val="516573"/>
                </a:solidFill>
                <a:latin typeface="Arial"/>
                <a:ea typeface="Arial"/>
                <a:cs typeface="Arial"/>
              </a:rPr>
              <a:t>​Retards de publication, bandes indicatives et frais réels d’achat à compléter.</a:t>
            </a:r>
          </a:p>
        </p:txBody>
      </p:sp>
    </p:spTree>
    <p:extLst>
      <p:ext uri="{BB962C8B-B14F-4D97-AF65-F5344CB8AC3E}">
        <p14:creationId xmlns:p14="http://schemas.microsoft.com/office/powerpoint/2010/main" val="1076961779"/>
      </p:ext>
    </p:extLst>
  </p:cSld>
</p:sld>
</file>

<file path=ppt/slides/slide15.xml><?xml version="1.0" encoding="utf-8"?>
<p:sld xmlns:p="http://schemas.openxmlformats.org/presentationml/2006/main">
  <p:cSld>
    <p:bg>
      <p:bgPr>
        <a:solidFill xmlns:a="http://schemas.openxmlformats.org/drawingml/2006/main">
          <a:srgbClr val="102334"/>
        </a:solidFill>
      </p:bgPr>
    </p:bg>
    <p:spTree>
      <p:nvGrpSpPr>
        <p:cNvPr id="1" name=""/>
        <p:cNvGrpSpPr/>
        <p:nvPr/>
      </p:nvGrpSpPr>
      <p:grpSpPr>
        <a:xfrm xmlns:a="http://schemas.openxmlformats.org/drawingml/2006/main"/>
      </p:grpSpPr>
      <p:sp>
        <p:nvSpPr>
          <p:cNvPr id="5" name="Ce que le projet apporte">
            <a:extLst xmlns:a="http://schemas.openxmlformats.org/drawingml/2006/main">
              <a:ext uri="{FF2B5EF4-FFF2-40B4-BE49-F238E27FC236}">
                <a16:creationId xmlns:a16="http://schemas.microsoft.com/office/drawing/2014/main" id="{F080962D-ED97-43AA-B882-86C550998F82}"/>
              </a:ext>
            </a:extLst>
          </p:cNvPr>
          <p:cNvSpPr>
            <a:spLocks xmlns:a="http://schemas.openxmlformats.org/drawingml/2006/main" noGrp="1"/>
          </p:cNvSpPr>
          <p:nvPr/>
        </p:nvSpPr>
        <p:spPr>
          <a:xfrm xmlns:a="http://schemas.openxmlformats.org/drawingml/2006/main">
            <a:off x="685800" y="5524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​Ce que le projet apporte</a:t>
            </a:r>
          </a:p>
        </p:txBody>
      </p:sp>
      <p:sp>
        <p:nvSpPr>
          <p:cNvPr id="2" name="15">
            <a:extLst xmlns:a="http://schemas.openxmlformats.org/drawingml/2006/main">
              <a:ext uri="{FF2B5EF4-FFF2-40B4-BE49-F238E27FC236}">
                <a16:creationId xmlns:a16="http://schemas.microsoft.com/office/drawing/2014/main" id="{BFE900AB-60EA-449A-9F16-92DF25F4BD27}"/>
              </a:ext>
            </a:extLst>
          </p:cNvPr>
          <p:cNvSpPr>
            <a:spLocks xmlns:a="http://schemas.openxmlformats.org/drawingml/2006/main" noGrp="1"/>
          </p:cNvSpPr>
          <p:nvPr/>
        </p:nvSpPr>
        <p:spPr>
          <a:xfrm xmlns:a="http://schemas.openxmlformats.org/drawingml/2006/main">
            <a:off x="11049000" y="632460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00" b="0">
                <a:solidFill>
                  <a:srgbClr val="C7D8E1"/>
                </a:solidFill>
                <a:latin typeface="Arial"/>
                <a:ea typeface="Arial"/>
                <a:cs typeface="Arial"/>
              </a:defRPr>
            </a:defPPr>
          </a:lstStyle>
          <a:p xmlns:a="http://schemas.openxmlformats.org/drawingml/2006/main">
            <a:pPr algn="r">
              <a:defRPr sz="1200" b="0">
                <a:solidFill>
                  <a:srgbClr val="C7D8E1"/>
                </a:solidFill>
                <a:latin typeface="Arial"/>
                <a:ea typeface="Arial"/>
                <a:cs typeface="Arial"/>
              </a:defRPr>
            </a:pPr>
            <a:r>
              <a:rPr sz="1200" b="0">
                <a:solidFill>
                  <a:srgbClr val="C7D8E1"/>
                </a:solidFill>
                <a:latin typeface="Arial"/>
                <a:ea typeface="Arial"/>
                <a:cs typeface="Arial"/>
              </a:rPr>
              <a:t>​15</a:t>
            </a:r>
          </a:p>
        </p:txBody>
      </p:sp>
      <p:sp>
        <p:nvSpPr>
          <p:cNvPr id="3" name="Un suivi documenté du marché&#10;et une base pour">
            <a:extLst xmlns:a="http://schemas.openxmlformats.org/drawingml/2006/main">
              <a:ext uri="{FF2B5EF4-FFF2-40B4-BE49-F238E27FC236}">
                <a16:creationId xmlns:a16="http://schemas.microsoft.com/office/drawing/2014/main" id="{3F864760-5E8C-499D-A860-E9317FEFF6ED}"/>
              </a:ext>
            </a:extLst>
          </p:cNvPr>
          <p:cNvSpPr>
            <a:spLocks xmlns:a="http://schemas.openxmlformats.org/drawingml/2006/main" noGrp="1"/>
          </p:cNvSpPr>
          <p:nvPr/>
        </p:nvSpPr>
        <p:spPr>
          <a:xfrm xmlns:a="http://schemas.openxmlformats.org/drawingml/2006/main">
            <a:off x="685800" y="2047875"/>
            <a:ext cx="10382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FFFFFF"/>
                </a:solidFill>
                <a:latin typeface="Arial"/>
                <a:ea typeface="Arial"/>
                <a:cs typeface="Arial"/>
              </a:defRPr>
            </a:defPPr>
          </a:lstStyle>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​Un suivi documenté du marché</a:t>
            </a:r>
          </a:p>
          <a:p xmlns:a="http://schemas.openxmlformats.org/drawingml/2006/main">
            <a:pPr algn="l">
              <a:defRPr sz="3675" b="1">
                <a:solidFill>
                  <a:srgbClr val="FFFFFF"/>
                </a:solidFill>
                <a:latin typeface="Arial"/>
                <a:ea typeface="Arial"/>
                <a:cs typeface="Arial"/>
              </a:defRPr>
            </a:pPr>
            <a:r>
              <a:rPr sz="3675" b="1">
                <a:solidFill>
                  <a:srgbClr val="FFFFFF"/>
                </a:solidFill>
                <a:latin typeface="Arial"/>
                <a:ea typeface="Arial"/>
                <a:cs typeface="Arial"/>
              </a:rPr>
              <a:t>et une base pour préparer les achats</a:t>
            </a:r>
          </a:p>
        </p:txBody>
      </p:sp>
      <p:sp>
        <p:nvSpPr>
          <p:cNvPr id="4" name="Les sources et les unités restent visibles.&#10;L">
            <a:extLst xmlns:a="http://schemas.openxmlformats.org/drawingml/2006/main">
              <a:ext uri="{FF2B5EF4-FFF2-40B4-BE49-F238E27FC236}">
                <a16:creationId xmlns:a16="http://schemas.microsoft.com/office/drawing/2014/main" id="{9F50167D-324C-4963-A835-B1A2790577B2}"/>
              </a:ext>
            </a:extLst>
          </p:cNvPr>
          <p:cNvSpPr>
            <a:spLocks xmlns:a="http://schemas.openxmlformats.org/drawingml/2006/main" noGrp="1"/>
          </p:cNvSpPr>
          <p:nvPr/>
        </p:nvSpPr>
        <p:spPr>
          <a:xfrm xmlns:a="http://schemas.openxmlformats.org/drawingml/2006/main">
            <a:off x="685800" y="4114800"/>
            <a:ext cx="10191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C7D8E1"/>
                </a:solidFill>
                <a:latin typeface="Arial"/>
                <a:ea typeface="Arial"/>
                <a:cs typeface="Arial"/>
              </a:defRPr>
            </a:defPPr>
          </a:lstStyle>
          <a:p xmlns:a="http://schemas.openxmlformats.org/drawingml/2006/main">
            <a:pPr algn="l">
              <a:defRPr sz="2175" b="0">
                <a:solidFill>
                  <a:srgbClr val="C7D8E1"/>
                </a:solidFill>
                <a:latin typeface="Arial"/>
                <a:ea typeface="Arial"/>
                <a:cs typeface="Arial"/>
              </a:defRPr>
            </a:pPr>
            <a:r>
              <a:rPr sz="2175" b="0">
                <a:solidFill>
                  <a:srgbClr val="C7D8E1"/>
                </a:solidFill>
                <a:latin typeface="Arial"/>
                <a:ea typeface="Arial"/>
                <a:cs typeface="Arial"/>
              </a:rPr>
              <a:t>​Les sources et les unités restent visibles.</a:t>
            </a:r>
          </a:p>
          <a:p xmlns:a="http://schemas.openxmlformats.org/drawingml/2006/main">
            <a:pPr algn="l">
              <a:defRPr sz="2175" b="0">
                <a:solidFill>
                  <a:srgbClr val="C7D8E1"/>
                </a:solidFill>
                <a:latin typeface="Arial"/>
                <a:ea typeface="Arial"/>
                <a:cs typeface="Arial"/>
              </a:defRPr>
            </a:pPr>
            <a:r>
              <a:rPr sz="2175" b="0">
                <a:solidFill>
                  <a:srgbClr val="C7D8E1"/>
                </a:solidFill>
                <a:latin typeface="Arial"/>
                <a:ea typeface="Arial"/>
                <a:cs typeface="Arial"/>
              </a:rPr>
              <a:t>Les alertes facilitent le suivi.</a:t>
            </a:r>
          </a:p>
          <a:p xmlns:a="http://schemas.openxmlformats.org/drawingml/2006/main">
            <a:pPr algn="l">
              <a:defRPr sz="2175" b="0">
                <a:solidFill>
                  <a:srgbClr val="C7D8E1"/>
                </a:solidFill>
                <a:latin typeface="Arial"/>
                <a:ea typeface="Arial"/>
                <a:cs typeface="Arial"/>
              </a:defRPr>
            </a:pPr>
            <a:r>
              <a:rPr sz="2175" b="0">
                <a:solidFill>
                  <a:srgbClr val="C7D8E1"/>
                </a:solidFill>
                <a:latin typeface="Arial"/>
                <a:ea typeface="Arial"/>
                <a:cs typeface="Arial"/>
              </a:rPr>
              <a:t>Les devis alimentent les estimations de budget.</a:t>
            </a:r>
          </a:p>
        </p:txBody>
      </p:sp>
    </p:spTree>
    <p:extLst>
      <p:ext uri="{BB962C8B-B14F-4D97-AF65-F5344CB8AC3E}">
        <p14:creationId xmlns:p14="http://schemas.microsoft.com/office/powerpoint/2010/main" val="61538986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2026-10-12T08:53:10.6380000Z</dcterms:created>
  <dcterms:modified xsi:type="dcterms:W3CDTF">2026-10-12T08:53:10.6380000Z</dcterms:modified>
</coreProperties>
</file>